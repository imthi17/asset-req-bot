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thiyaas S" userId="8453d72cf439af64" providerId="LiveId" clId="{F68EAE12-BE33-4094-AAF0-8CB6756C894A}"/>
    <pc:docChg chg="modSld">
      <pc:chgData name="Imthiyaas S" userId="8453d72cf439af64" providerId="LiveId" clId="{F68EAE12-BE33-4094-AAF0-8CB6756C894A}" dt="2026-06-07T16:55:19.687" v="80" actId="20577"/>
      <pc:docMkLst>
        <pc:docMk/>
      </pc:docMkLst>
      <pc:sldChg chg="modSp mod">
        <pc:chgData name="Imthiyaas S" userId="8453d72cf439af64" providerId="LiveId" clId="{F68EAE12-BE33-4094-AAF0-8CB6756C894A}" dt="2026-06-07T16:55:19.687" v="80" actId="20577"/>
        <pc:sldMkLst>
          <pc:docMk/>
          <pc:sldMk cId="0" sldId="256"/>
        </pc:sldMkLst>
        <pc:spChg chg="mod">
          <ac:chgData name="Imthiyaas S" userId="8453d72cf439af64" providerId="LiveId" clId="{F68EAE12-BE33-4094-AAF0-8CB6756C894A}" dt="2026-06-07T16:55:19.687" v="80" actId="20577"/>
          <ac:spMkLst>
            <pc:docMk/>
            <pc:sldMk cId="0" sldId="256"/>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329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858000" y="-1097280"/>
            <a:ext cx="4114800" cy="4114800"/>
          </a:xfrm>
          <a:prstGeom prst="ellipse">
            <a:avLst/>
          </a:prstGeom>
          <a:solidFill>
            <a:srgbClr val="0077B6">
              <a:alpha val="30000"/>
            </a:srgbClr>
          </a:solidFill>
          <a:ln w="12700">
            <a:solidFill>
              <a:srgbClr val="00B4D8">
                <a:alpha val="40000"/>
              </a:srgbClr>
            </a:solidFill>
            <a:prstDash val="solid"/>
          </a:ln>
        </p:spPr>
        <p:txBody>
          <a:bodyPr/>
          <a:lstStyle/>
          <a:p>
            <a:endParaRPr lang="en-IN"/>
          </a:p>
        </p:txBody>
      </p:sp>
      <p:sp>
        <p:nvSpPr>
          <p:cNvPr id="4" name="Shape 2"/>
          <p:cNvSpPr/>
          <p:nvPr/>
        </p:nvSpPr>
        <p:spPr>
          <a:xfrm>
            <a:off x="7498080" y="-365760"/>
            <a:ext cx="2560320" cy="2560320"/>
          </a:xfrm>
          <a:prstGeom prst="ellipse">
            <a:avLst/>
          </a:prstGeom>
          <a:solidFill>
            <a:srgbClr val="00B4D8">
              <a:alpha val="45000"/>
            </a:srgbClr>
          </a:solidFill>
          <a:ln w="12700">
            <a:solidFill>
              <a:srgbClr val="48CAE4">
                <a:alpha val="60000"/>
              </a:srgbClr>
            </a:solidFill>
            <a:prstDash val="solid"/>
          </a:ln>
        </p:spPr>
        <p:txBody>
          <a:bodyPr/>
          <a:lstStyle/>
          <a:p>
            <a:endParaRPr lang="en-IN"/>
          </a:p>
        </p:txBody>
      </p:sp>
      <p:sp>
        <p:nvSpPr>
          <p:cNvPr id="5" name="Shape 3"/>
          <p:cNvSpPr/>
          <p:nvPr/>
        </p:nvSpPr>
        <p:spPr>
          <a:xfrm>
            <a:off x="502920" y="914400"/>
            <a:ext cx="1005840" cy="1005840"/>
          </a:xfrm>
          <a:prstGeom prst="ellipse">
            <a:avLst/>
          </a:prstGeom>
          <a:solidFill>
            <a:srgbClr val="00B4D8"/>
          </a:solidFill>
          <a:ln w="12700">
            <a:solidFill>
              <a:srgbClr val="00B4D8"/>
            </a:solidFill>
            <a:prstDash val="solid"/>
          </a:ln>
        </p:spPr>
        <p:txBody>
          <a:bodyPr/>
          <a:lstStyle/>
          <a:p>
            <a:endParaRPr lang="en-IN"/>
          </a:p>
        </p:txBody>
      </p:sp>
      <p:sp>
        <p:nvSpPr>
          <p:cNvPr id="6" name="Text 4"/>
          <p:cNvSpPr/>
          <p:nvPr/>
        </p:nvSpPr>
        <p:spPr>
          <a:xfrm>
            <a:off x="502920" y="914400"/>
            <a:ext cx="1005840" cy="10058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365760" y="1920240"/>
            <a:ext cx="841248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Trebuchet MS" pitchFamily="34" charset="0"/>
                <a:ea typeface="Trebuchet MS" pitchFamily="34" charset="-122"/>
                <a:cs typeface="Trebuchet MS" pitchFamily="34" charset="-120"/>
              </a:rPr>
              <a:t>Asset Request Bot</a:t>
            </a:r>
            <a:endParaRPr lang="en-US" sz="4400" dirty="0"/>
          </a:p>
        </p:txBody>
      </p:sp>
      <p:sp>
        <p:nvSpPr>
          <p:cNvPr id="8" name="Text 6"/>
          <p:cNvSpPr/>
          <p:nvPr/>
        </p:nvSpPr>
        <p:spPr>
          <a:xfrm>
            <a:off x="365760" y="2880360"/>
            <a:ext cx="7772400" cy="731520"/>
          </a:xfrm>
          <a:prstGeom prst="rect">
            <a:avLst/>
          </a:prstGeom>
          <a:noFill/>
          <a:ln/>
        </p:spPr>
        <p:txBody>
          <a:bodyPr wrap="square" lIns="0" tIns="0" rIns="0" bIns="0" rtlCol="0" anchor="ctr"/>
          <a:lstStyle/>
          <a:p>
            <a:pPr marL="0" indent="0" algn="l">
              <a:buNone/>
            </a:pPr>
            <a:r>
              <a:rPr lang="en-US" sz="1500" dirty="0">
                <a:solidFill>
                  <a:srgbClr val="90E0EF"/>
                </a:solidFill>
                <a:latin typeface="Calibri" pitchFamily="34" charset="0"/>
                <a:ea typeface="Calibri" pitchFamily="34" charset="-122"/>
                <a:cs typeface="Calibri" pitchFamily="34" charset="-120"/>
              </a:rPr>
              <a:t>Automating IT Asset Requests using Telegram Bot, HRIS Validation, and SQLite</a:t>
            </a:r>
            <a:endParaRPr lang="en-US" sz="1500" dirty="0"/>
          </a:p>
        </p:txBody>
      </p:sp>
      <p:sp>
        <p:nvSpPr>
          <p:cNvPr id="9" name="Shape 7"/>
          <p:cNvSpPr/>
          <p:nvPr/>
        </p:nvSpPr>
        <p:spPr>
          <a:xfrm>
            <a:off x="365760" y="3703320"/>
            <a:ext cx="5029200" cy="36576"/>
          </a:xfrm>
          <a:prstGeom prst="rect">
            <a:avLst/>
          </a:prstGeom>
          <a:solidFill>
            <a:srgbClr val="00B4D8"/>
          </a:solidFill>
          <a:ln w="12700">
            <a:solidFill>
              <a:srgbClr val="00B4D8"/>
            </a:solidFill>
            <a:prstDash val="solid"/>
          </a:ln>
        </p:spPr>
        <p:txBody>
          <a:bodyPr/>
          <a:lstStyle/>
          <a:p>
            <a:endParaRPr lang="en-IN"/>
          </a:p>
        </p:txBody>
      </p:sp>
      <p:sp>
        <p:nvSpPr>
          <p:cNvPr id="10" name="Text 8"/>
          <p:cNvSpPr/>
          <p:nvPr/>
        </p:nvSpPr>
        <p:spPr>
          <a:xfrm>
            <a:off x="365760" y="3886200"/>
            <a:ext cx="8229600" cy="457200"/>
          </a:xfrm>
          <a:prstGeom prst="rect">
            <a:avLst/>
          </a:prstGeom>
          <a:noFill/>
          <a:ln/>
        </p:spPr>
        <p:txBody>
          <a:bodyPr wrap="square" lIns="0" tIns="0" rIns="0" bIns="0" rtlCol="0" anchor="ctr"/>
          <a:lstStyle/>
          <a:p>
            <a:pPr marL="0" indent="0" algn="l">
              <a:buNone/>
            </a:pPr>
            <a:r>
              <a:rPr lang="en-US" sz="1300" dirty="0">
                <a:solidFill>
                  <a:srgbClr val="64748B"/>
                </a:solidFill>
                <a:latin typeface="Calibri" pitchFamily="34" charset="0"/>
                <a:ea typeface="Calibri" pitchFamily="34" charset="-122"/>
                <a:cs typeface="Calibri" pitchFamily="34" charset="-120"/>
              </a:rPr>
              <a:t>Team Members:  Imthiyaas S, Naveen Karthik M, Thanga Kumaran 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Problem Statement</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65760" y="960120"/>
            <a:ext cx="3931920" cy="365760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365760" y="960120"/>
            <a:ext cx="3931920" cy="457200"/>
          </a:xfrm>
          <a:prstGeom prst="rect">
            <a:avLst/>
          </a:prstGeom>
          <a:solidFill>
            <a:srgbClr val="0077B6"/>
          </a:solidFill>
          <a:ln w="12700">
            <a:solidFill>
              <a:srgbClr val="0077B6"/>
            </a:solidFill>
            <a:prstDash val="solid"/>
          </a:ln>
        </p:spPr>
        <p:txBody>
          <a:bodyPr/>
          <a:lstStyle/>
          <a:p>
            <a:endParaRPr lang="en-IN"/>
          </a:p>
        </p:txBody>
      </p:sp>
      <p:sp>
        <p:nvSpPr>
          <p:cNvPr id="7" name="Text 5"/>
          <p:cNvSpPr/>
          <p:nvPr/>
        </p:nvSpPr>
        <p:spPr>
          <a:xfrm>
            <a:off x="411480" y="960120"/>
            <a:ext cx="3840480" cy="45720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 Existing Challenges</a:t>
            </a:r>
            <a:endParaRPr lang="en-US" sz="1400" dirty="0"/>
          </a:p>
        </p:txBody>
      </p:sp>
      <p:sp>
        <p:nvSpPr>
          <p:cNvPr id="8" name="Shape 6"/>
          <p:cNvSpPr/>
          <p:nvPr/>
        </p:nvSpPr>
        <p:spPr>
          <a:xfrm>
            <a:off x="502920" y="1600200"/>
            <a:ext cx="201168" cy="201168"/>
          </a:xfrm>
          <a:prstGeom prst="ellipse">
            <a:avLst/>
          </a:prstGeom>
          <a:solidFill>
            <a:srgbClr val="0077B6"/>
          </a:solidFill>
          <a:ln w="12700">
            <a:solidFill>
              <a:srgbClr val="0077B6"/>
            </a:solidFill>
            <a:prstDash val="solid"/>
          </a:ln>
        </p:spPr>
        <p:txBody>
          <a:bodyPr/>
          <a:lstStyle/>
          <a:p>
            <a:endParaRPr lang="en-IN"/>
          </a:p>
        </p:txBody>
      </p:sp>
      <p:sp>
        <p:nvSpPr>
          <p:cNvPr id="9" name="Text 7"/>
          <p:cNvSpPr/>
          <p:nvPr/>
        </p:nvSpPr>
        <p:spPr>
          <a:xfrm>
            <a:off x="777240" y="1536192"/>
            <a:ext cx="3383280" cy="34747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Asset requests are handled manually</a:t>
            </a:r>
            <a:endParaRPr lang="en-US" sz="1300" dirty="0"/>
          </a:p>
        </p:txBody>
      </p:sp>
      <p:sp>
        <p:nvSpPr>
          <p:cNvPr id="10" name="Shape 8"/>
          <p:cNvSpPr/>
          <p:nvPr/>
        </p:nvSpPr>
        <p:spPr>
          <a:xfrm>
            <a:off x="502920" y="2258568"/>
            <a:ext cx="201168" cy="201168"/>
          </a:xfrm>
          <a:prstGeom prst="ellipse">
            <a:avLst/>
          </a:prstGeom>
          <a:solidFill>
            <a:srgbClr val="0077B6"/>
          </a:solidFill>
          <a:ln w="12700">
            <a:solidFill>
              <a:srgbClr val="0077B6"/>
            </a:solidFill>
            <a:prstDash val="solid"/>
          </a:ln>
        </p:spPr>
        <p:txBody>
          <a:bodyPr/>
          <a:lstStyle/>
          <a:p>
            <a:endParaRPr lang="en-IN"/>
          </a:p>
        </p:txBody>
      </p:sp>
      <p:sp>
        <p:nvSpPr>
          <p:cNvPr id="11" name="Text 9"/>
          <p:cNvSpPr/>
          <p:nvPr/>
        </p:nvSpPr>
        <p:spPr>
          <a:xfrm>
            <a:off x="777240" y="2194560"/>
            <a:ext cx="3383280" cy="34747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Employees use emails and forms</a:t>
            </a:r>
            <a:endParaRPr lang="en-US" sz="1300" dirty="0"/>
          </a:p>
        </p:txBody>
      </p:sp>
      <p:sp>
        <p:nvSpPr>
          <p:cNvPr id="12" name="Shape 10"/>
          <p:cNvSpPr/>
          <p:nvPr/>
        </p:nvSpPr>
        <p:spPr>
          <a:xfrm>
            <a:off x="502920" y="2916936"/>
            <a:ext cx="201168" cy="201168"/>
          </a:xfrm>
          <a:prstGeom prst="ellipse">
            <a:avLst/>
          </a:prstGeom>
          <a:solidFill>
            <a:srgbClr val="0077B6"/>
          </a:solidFill>
          <a:ln w="12700">
            <a:solidFill>
              <a:srgbClr val="0077B6"/>
            </a:solidFill>
            <a:prstDash val="solid"/>
          </a:ln>
        </p:spPr>
        <p:txBody>
          <a:bodyPr/>
          <a:lstStyle/>
          <a:p>
            <a:endParaRPr lang="en-IN"/>
          </a:p>
        </p:txBody>
      </p:sp>
      <p:sp>
        <p:nvSpPr>
          <p:cNvPr id="13" name="Text 11"/>
          <p:cNvSpPr/>
          <p:nvPr/>
        </p:nvSpPr>
        <p:spPr>
          <a:xfrm>
            <a:off x="777240" y="2852928"/>
            <a:ext cx="3383280" cy="34747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Difficult to track request status</a:t>
            </a:r>
            <a:endParaRPr lang="en-US" sz="1300" dirty="0"/>
          </a:p>
        </p:txBody>
      </p:sp>
      <p:sp>
        <p:nvSpPr>
          <p:cNvPr id="14" name="Shape 12"/>
          <p:cNvSpPr/>
          <p:nvPr/>
        </p:nvSpPr>
        <p:spPr>
          <a:xfrm>
            <a:off x="502920" y="3575304"/>
            <a:ext cx="201168" cy="201168"/>
          </a:xfrm>
          <a:prstGeom prst="ellipse">
            <a:avLst/>
          </a:prstGeom>
          <a:solidFill>
            <a:srgbClr val="0077B6"/>
          </a:solidFill>
          <a:ln w="12700">
            <a:solidFill>
              <a:srgbClr val="0077B6"/>
            </a:solidFill>
            <a:prstDash val="solid"/>
          </a:ln>
        </p:spPr>
        <p:txBody>
          <a:bodyPr/>
          <a:lstStyle/>
          <a:p>
            <a:endParaRPr lang="en-IN"/>
          </a:p>
        </p:txBody>
      </p:sp>
      <p:sp>
        <p:nvSpPr>
          <p:cNvPr id="15" name="Text 13"/>
          <p:cNvSpPr/>
          <p:nvPr/>
        </p:nvSpPr>
        <p:spPr>
          <a:xfrm>
            <a:off x="777240" y="3511296"/>
            <a:ext cx="3383280" cy="347472"/>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No centralized storage</a:t>
            </a:r>
            <a:endParaRPr lang="en-US" sz="1300" dirty="0"/>
          </a:p>
        </p:txBody>
      </p:sp>
      <p:sp>
        <p:nvSpPr>
          <p:cNvPr id="16" name="Shape 14"/>
          <p:cNvSpPr/>
          <p:nvPr/>
        </p:nvSpPr>
        <p:spPr>
          <a:xfrm>
            <a:off x="4846320" y="960120"/>
            <a:ext cx="3931920" cy="365760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7" name="Shape 15"/>
          <p:cNvSpPr/>
          <p:nvPr/>
        </p:nvSpPr>
        <p:spPr>
          <a:xfrm>
            <a:off x="4846320" y="960120"/>
            <a:ext cx="3931920" cy="457200"/>
          </a:xfrm>
          <a:prstGeom prst="rect">
            <a:avLst/>
          </a:prstGeom>
          <a:solidFill>
            <a:srgbClr val="00B4D8"/>
          </a:solidFill>
          <a:ln w="12700">
            <a:solidFill>
              <a:srgbClr val="00B4D8"/>
            </a:solidFill>
            <a:prstDash val="solid"/>
          </a:ln>
        </p:spPr>
        <p:txBody>
          <a:bodyPr/>
          <a:lstStyle/>
          <a:p>
            <a:endParaRPr lang="en-IN"/>
          </a:p>
        </p:txBody>
      </p:sp>
      <p:sp>
        <p:nvSpPr>
          <p:cNvPr id="18" name="Text 16"/>
          <p:cNvSpPr/>
          <p:nvPr/>
        </p:nvSpPr>
        <p:spPr>
          <a:xfrm>
            <a:off x="4892040" y="960120"/>
            <a:ext cx="3840480" cy="45720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 Proposed Solution</a:t>
            </a:r>
            <a:endParaRPr lang="en-US" sz="1400" dirty="0"/>
          </a:p>
        </p:txBody>
      </p:sp>
      <p:sp>
        <p:nvSpPr>
          <p:cNvPr id="19" name="Text 17"/>
          <p:cNvSpPr/>
          <p:nvPr/>
        </p:nvSpPr>
        <p:spPr>
          <a:xfrm>
            <a:off x="4983480" y="1554480"/>
            <a:ext cx="3611880" cy="164592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Develop a Telegram chatbot to automate the entire asset request process — from submission to validation and storage.</a:t>
            </a:r>
            <a:endParaRPr lang="en-US" sz="1400" dirty="0"/>
          </a:p>
        </p:txBody>
      </p:sp>
      <p:sp>
        <p:nvSpPr>
          <p:cNvPr id="20" name="Text 18"/>
          <p:cNvSpPr/>
          <p:nvPr/>
        </p:nvSpPr>
        <p:spPr>
          <a:xfrm>
            <a:off x="6035040" y="3108960"/>
            <a:ext cx="1645920" cy="1280160"/>
          </a:xfrm>
          <a:prstGeom prst="rect">
            <a:avLst/>
          </a:prstGeom>
          <a:noFill/>
          <a:ln/>
        </p:spPr>
        <p:txBody>
          <a:bodyPr wrap="square" rtlCol="0" anchor="ctr"/>
          <a:lstStyle/>
          <a:p>
            <a:pPr marL="0" indent="0" algn="ctr">
              <a:buNone/>
            </a:pPr>
            <a:r>
              <a:rPr lang="en-US" sz="6000" dirty="0">
                <a:solidFill>
                  <a:srgbClr val="00B4D8">
                    <a:alpha val="75000"/>
                  </a:srgbClr>
                </a:solidFill>
              </a:rPr>
              <a:t>✈</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Project Objectives</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20040" y="914400"/>
            <a:ext cx="2743200" cy="17373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29768" y="1024128"/>
            <a:ext cx="548640" cy="548640"/>
          </a:xfrm>
          <a:prstGeom prst="ellipse">
            <a:avLst/>
          </a:prstGeom>
          <a:solidFill>
            <a:srgbClr val="00B4D8"/>
          </a:solidFill>
          <a:ln w="12700">
            <a:solidFill>
              <a:srgbClr val="00B4D8"/>
            </a:solidFill>
            <a:prstDash val="solid"/>
          </a:ln>
        </p:spPr>
        <p:txBody>
          <a:bodyPr/>
          <a:lstStyle/>
          <a:p>
            <a:endParaRPr lang="en-IN"/>
          </a:p>
        </p:txBody>
      </p:sp>
      <p:sp>
        <p:nvSpPr>
          <p:cNvPr id="7" name="Text 5"/>
          <p:cNvSpPr/>
          <p:nvPr/>
        </p:nvSpPr>
        <p:spPr>
          <a:xfrm>
            <a:off x="429768" y="1024128"/>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1069848" y="1051560"/>
            <a:ext cx="1874520" cy="347472"/>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Automate</a:t>
            </a:r>
            <a:endParaRPr lang="en-US" sz="1400" dirty="0"/>
          </a:p>
        </p:txBody>
      </p:sp>
      <p:sp>
        <p:nvSpPr>
          <p:cNvPr id="9" name="Text 7"/>
          <p:cNvSpPr/>
          <p:nvPr/>
        </p:nvSpPr>
        <p:spPr>
          <a:xfrm>
            <a:off x="429768" y="1536192"/>
            <a:ext cx="2514600" cy="91440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Automate asset requests end-to-end via Telegram chatbot</a:t>
            </a:r>
            <a:endParaRPr lang="en-US" sz="1200" dirty="0"/>
          </a:p>
        </p:txBody>
      </p:sp>
      <p:sp>
        <p:nvSpPr>
          <p:cNvPr id="10" name="Shape 8"/>
          <p:cNvSpPr/>
          <p:nvPr/>
        </p:nvSpPr>
        <p:spPr>
          <a:xfrm>
            <a:off x="3246120" y="914400"/>
            <a:ext cx="2743200" cy="17373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3355848" y="1024128"/>
            <a:ext cx="548640" cy="548640"/>
          </a:xfrm>
          <a:prstGeom prst="ellipse">
            <a:avLst/>
          </a:prstGeom>
          <a:solidFill>
            <a:srgbClr val="00B4D8"/>
          </a:solidFill>
          <a:ln w="12700">
            <a:solidFill>
              <a:srgbClr val="00B4D8"/>
            </a:solidFill>
            <a:prstDash val="solid"/>
          </a:ln>
        </p:spPr>
        <p:txBody>
          <a:bodyPr/>
          <a:lstStyle/>
          <a:p>
            <a:endParaRPr lang="en-IN"/>
          </a:p>
        </p:txBody>
      </p:sp>
      <p:sp>
        <p:nvSpPr>
          <p:cNvPr id="12" name="Text 10"/>
          <p:cNvSpPr/>
          <p:nvPr/>
        </p:nvSpPr>
        <p:spPr>
          <a:xfrm>
            <a:off x="3355848" y="1024128"/>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3" name="Text 11"/>
          <p:cNvSpPr/>
          <p:nvPr/>
        </p:nvSpPr>
        <p:spPr>
          <a:xfrm>
            <a:off x="3995928" y="1051560"/>
            <a:ext cx="1874520" cy="347472"/>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Validate</a:t>
            </a:r>
            <a:endParaRPr lang="en-US" sz="1400" dirty="0"/>
          </a:p>
        </p:txBody>
      </p:sp>
      <p:sp>
        <p:nvSpPr>
          <p:cNvPr id="14" name="Text 12"/>
          <p:cNvSpPr/>
          <p:nvPr/>
        </p:nvSpPr>
        <p:spPr>
          <a:xfrm>
            <a:off x="3355848" y="1536192"/>
            <a:ext cx="2514600" cy="91440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Validate employee information against HRIS data</a:t>
            </a:r>
            <a:endParaRPr lang="en-US" sz="1200" dirty="0"/>
          </a:p>
        </p:txBody>
      </p:sp>
      <p:sp>
        <p:nvSpPr>
          <p:cNvPr id="15" name="Shape 13"/>
          <p:cNvSpPr/>
          <p:nvPr/>
        </p:nvSpPr>
        <p:spPr>
          <a:xfrm>
            <a:off x="6172200" y="914400"/>
            <a:ext cx="2743200" cy="17373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6281928" y="1024128"/>
            <a:ext cx="548640" cy="548640"/>
          </a:xfrm>
          <a:prstGeom prst="ellipse">
            <a:avLst/>
          </a:prstGeom>
          <a:solidFill>
            <a:srgbClr val="00B4D8"/>
          </a:solidFill>
          <a:ln w="12700">
            <a:solidFill>
              <a:srgbClr val="00B4D8"/>
            </a:solidFill>
            <a:prstDash val="solid"/>
          </a:ln>
        </p:spPr>
        <p:txBody>
          <a:bodyPr/>
          <a:lstStyle/>
          <a:p>
            <a:endParaRPr lang="en-IN"/>
          </a:p>
        </p:txBody>
      </p:sp>
      <p:sp>
        <p:nvSpPr>
          <p:cNvPr id="17" name="Text 15"/>
          <p:cNvSpPr/>
          <p:nvPr/>
        </p:nvSpPr>
        <p:spPr>
          <a:xfrm>
            <a:off x="6281928" y="1024128"/>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6922008" y="1051560"/>
            <a:ext cx="1874520" cy="347472"/>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Generate</a:t>
            </a:r>
            <a:endParaRPr lang="en-US" sz="1400" dirty="0"/>
          </a:p>
        </p:txBody>
      </p:sp>
      <p:sp>
        <p:nvSpPr>
          <p:cNvPr id="19" name="Text 17"/>
          <p:cNvSpPr/>
          <p:nvPr/>
        </p:nvSpPr>
        <p:spPr>
          <a:xfrm>
            <a:off x="6281928" y="1536192"/>
            <a:ext cx="2514600" cy="91440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Generate structured, standardized asset requests</a:t>
            </a:r>
            <a:endParaRPr lang="en-US" sz="1200" dirty="0"/>
          </a:p>
        </p:txBody>
      </p:sp>
      <p:sp>
        <p:nvSpPr>
          <p:cNvPr id="20" name="Shape 18"/>
          <p:cNvSpPr/>
          <p:nvPr/>
        </p:nvSpPr>
        <p:spPr>
          <a:xfrm>
            <a:off x="320040" y="2926080"/>
            <a:ext cx="2743200" cy="17373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429768" y="3035808"/>
            <a:ext cx="548640" cy="548640"/>
          </a:xfrm>
          <a:prstGeom prst="ellipse">
            <a:avLst/>
          </a:prstGeom>
          <a:solidFill>
            <a:srgbClr val="00B4D8"/>
          </a:solidFill>
          <a:ln w="12700">
            <a:solidFill>
              <a:srgbClr val="00B4D8"/>
            </a:solidFill>
            <a:prstDash val="solid"/>
          </a:ln>
        </p:spPr>
        <p:txBody>
          <a:bodyPr/>
          <a:lstStyle/>
          <a:p>
            <a:endParaRPr lang="en-IN"/>
          </a:p>
        </p:txBody>
      </p:sp>
      <p:sp>
        <p:nvSpPr>
          <p:cNvPr id="22" name="Text 20"/>
          <p:cNvSpPr/>
          <p:nvPr/>
        </p:nvSpPr>
        <p:spPr>
          <a:xfrm>
            <a:off x="429768" y="3035808"/>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1069848" y="3063240"/>
            <a:ext cx="1874520" cy="347472"/>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Store</a:t>
            </a:r>
            <a:endParaRPr lang="en-US" sz="1400" dirty="0"/>
          </a:p>
        </p:txBody>
      </p:sp>
      <p:sp>
        <p:nvSpPr>
          <p:cNvPr id="24" name="Text 22"/>
          <p:cNvSpPr/>
          <p:nvPr/>
        </p:nvSpPr>
        <p:spPr>
          <a:xfrm>
            <a:off x="429768" y="3547872"/>
            <a:ext cx="2514600" cy="91440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Persist all requests securely in SQLite database</a:t>
            </a:r>
            <a:endParaRPr lang="en-US" sz="1200" dirty="0"/>
          </a:p>
        </p:txBody>
      </p:sp>
      <p:sp>
        <p:nvSpPr>
          <p:cNvPr id="25" name="Shape 23"/>
          <p:cNvSpPr/>
          <p:nvPr/>
        </p:nvSpPr>
        <p:spPr>
          <a:xfrm>
            <a:off x="3246120" y="2926080"/>
            <a:ext cx="2743200" cy="17373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3355848" y="3035808"/>
            <a:ext cx="548640" cy="548640"/>
          </a:xfrm>
          <a:prstGeom prst="ellipse">
            <a:avLst/>
          </a:prstGeom>
          <a:solidFill>
            <a:srgbClr val="00B4D8"/>
          </a:solidFill>
          <a:ln w="12700">
            <a:solidFill>
              <a:srgbClr val="00B4D8"/>
            </a:solidFill>
            <a:prstDash val="solid"/>
          </a:ln>
        </p:spPr>
        <p:txBody>
          <a:bodyPr/>
          <a:lstStyle/>
          <a:p>
            <a:endParaRPr lang="en-IN"/>
          </a:p>
        </p:txBody>
      </p:sp>
      <p:sp>
        <p:nvSpPr>
          <p:cNvPr id="27" name="Text 25"/>
          <p:cNvSpPr/>
          <p:nvPr/>
        </p:nvSpPr>
        <p:spPr>
          <a:xfrm>
            <a:off x="3355848" y="3035808"/>
            <a:ext cx="548640" cy="5486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8" name="Text 26"/>
          <p:cNvSpPr/>
          <p:nvPr/>
        </p:nvSpPr>
        <p:spPr>
          <a:xfrm>
            <a:off x="3995928" y="3063240"/>
            <a:ext cx="1874520" cy="347472"/>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Track</a:t>
            </a:r>
            <a:endParaRPr lang="en-US" sz="1400" dirty="0"/>
          </a:p>
        </p:txBody>
      </p:sp>
      <p:sp>
        <p:nvSpPr>
          <p:cNvPr id="29" name="Text 27"/>
          <p:cNvSpPr/>
          <p:nvPr/>
        </p:nvSpPr>
        <p:spPr>
          <a:xfrm>
            <a:off x="3355848" y="3547872"/>
            <a:ext cx="2514600" cy="91440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Enable real-time request tracking and history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System Overview</a:t>
            </a:r>
            <a:endParaRPr lang="en-US" sz="2600" dirty="0"/>
          </a:p>
        </p:txBody>
      </p:sp>
      <p:sp>
        <p:nvSpPr>
          <p:cNvPr id="4" name="Shape 2"/>
          <p:cNvSpPr/>
          <p:nvPr/>
        </p:nvSpPr>
        <p:spPr>
          <a:xfrm>
            <a:off x="347472" y="1005840"/>
            <a:ext cx="1234440" cy="3017520"/>
          </a:xfrm>
          <a:prstGeom prst="rect">
            <a:avLst/>
          </a:prstGeom>
          <a:solidFill>
            <a:srgbClr val="00B4D8"/>
          </a:solidFill>
          <a:ln w="12700">
            <a:solidFill>
              <a:srgbClr val="00B4D8"/>
            </a:solidFill>
            <a:prstDash val="solid"/>
          </a:ln>
        </p:spPr>
        <p:txBody>
          <a:bodyPr/>
          <a:lstStyle/>
          <a:p>
            <a:endParaRPr lang="en-IN"/>
          </a:p>
        </p:txBody>
      </p:sp>
      <p:sp>
        <p:nvSpPr>
          <p:cNvPr id="5" name="Text 3"/>
          <p:cNvSpPr/>
          <p:nvPr/>
        </p:nvSpPr>
        <p:spPr>
          <a:xfrm>
            <a:off x="347472"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6" name="Shape 4"/>
          <p:cNvSpPr/>
          <p:nvPr/>
        </p:nvSpPr>
        <p:spPr>
          <a:xfrm>
            <a:off x="804672"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7" name="Text 5"/>
          <p:cNvSpPr/>
          <p:nvPr/>
        </p:nvSpPr>
        <p:spPr>
          <a:xfrm>
            <a:off x="804672"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1</a:t>
            </a:r>
            <a:endParaRPr lang="en-US" sz="1100" dirty="0"/>
          </a:p>
        </p:txBody>
      </p:sp>
      <p:sp>
        <p:nvSpPr>
          <p:cNvPr id="8" name="Text 6"/>
          <p:cNvSpPr/>
          <p:nvPr/>
        </p:nvSpPr>
        <p:spPr>
          <a:xfrm>
            <a:off x="301752"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Employee</a:t>
            </a:r>
            <a:endParaRPr lang="en-US" sz="1100" dirty="0"/>
          </a:p>
        </p:txBody>
      </p:sp>
      <p:sp>
        <p:nvSpPr>
          <p:cNvPr id="9" name="Shape 7"/>
          <p:cNvSpPr/>
          <p:nvPr/>
        </p:nvSpPr>
        <p:spPr>
          <a:xfrm>
            <a:off x="1581912" y="2377440"/>
            <a:ext cx="201168" cy="54864"/>
          </a:xfrm>
          <a:prstGeom prst="rect">
            <a:avLst/>
          </a:prstGeom>
          <a:solidFill>
            <a:srgbClr val="90E0EF"/>
          </a:solidFill>
          <a:ln w="12700">
            <a:solidFill>
              <a:srgbClr val="90E0EF"/>
            </a:solidFill>
            <a:prstDash val="solid"/>
          </a:ln>
        </p:spPr>
        <p:txBody>
          <a:bodyPr/>
          <a:lstStyle/>
          <a:p>
            <a:endParaRPr lang="en-IN"/>
          </a:p>
        </p:txBody>
      </p:sp>
      <p:sp>
        <p:nvSpPr>
          <p:cNvPr id="10" name="Shape 8"/>
          <p:cNvSpPr/>
          <p:nvPr/>
        </p:nvSpPr>
        <p:spPr>
          <a:xfrm>
            <a:off x="1783080" y="1005840"/>
            <a:ext cx="1234440" cy="3017520"/>
          </a:xfrm>
          <a:prstGeom prst="rect">
            <a:avLst/>
          </a:prstGeom>
          <a:solidFill>
            <a:srgbClr val="0077B6"/>
          </a:solidFill>
          <a:ln w="12700">
            <a:solidFill>
              <a:srgbClr val="00B4D8"/>
            </a:solidFill>
            <a:prstDash val="solid"/>
          </a:ln>
        </p:spPr>
        <p:txBody>
          <a:bodyPr/>
          <a:lstStyle/>
          <a:p>
            <a:endParaRPr lang="en-IN"/>
          </a:p>
        </p:txBody>
      </p:sp>
      <p:sp>
        <p:nvSpPr>
          <p:cNvPr id="11" name="Text 9"/>
          <p:cNvSpPr/>
          <p:nvPr/>
        </p:nvSpPr>
        <p:spPr>
          <a:xfrm>
            <a:off x="1783080"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2" name="Shape 10"/>
          <p:cNvSpPr/>
          <p:nvPr/>
        </p:nvSpPr>
        <p:spPr>
          <a:xfrm>
            <a:off x="2240280"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13" name="Text 11"/>
          <p:cNvSpPr/>
          <p:nvPr/>
        </p:nvSpPr>
        <p:spPr>
          <a:xfrm>
            <a:off x="2240280"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2</a:t>
            </a:r>
            <a:endParaRPr lang="en-US" sz="1100" dirty="0"/>
          </a:p>
        </p:txBody>
      </p:sp>
      <p:sp>
        <p:nvSpPr>
          <p:cNvPr id="14" name="Text 12"/>
          <p:cNvSpPr/>
          <p:nvPr/>
        </p:nvSpPr>
        <p:spPr>
          <a:xfrm>
            <a:off x="1737360"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Telegram Bot</a:t>
            </a:r>
            <a:endParaRPr lang="en-US" sz="1100" dirty="0"/>
          </a:p>
        </p:txBody>
      </p:sp>
      <p:sp>
        <p:nvSpPr>
          <p:cNvPr id="15" name="Shape 13"/>
          <p:cNvSpPr/>
          <p:nvPr/>
        </p:nvSpPr>
        <p:spPr>
          <a:xfrm>
            <a:off x="3017520" y="2377440"/>
            <a:ext cx="201168" cy="54864"/>
          </a:xfrm>
          <a:prstGeom prst="rect">
            <a:avLst/>
          </a:prstGeom>
          <a:solidFill>
            <a:srgbClr val="90E0EF"/>
          </a:solidFill>
          <a:ln w="12700">
            <a:solidFill>
              <a:srgbClr val="90E0EF"/>
            </a:solidFill>
            <a:prstDash val="solid"/>
          </a:ln>
        </p:spPr>
        <p:txBody>
          <a:bodyPr/>
          <a:lstStyle/>
          <a:p>
            <a:endParaRPr lang="en-IN"/>
          </a:p>
        </p:txBody>
      </p:sp>
      <p:sp>
        <p:nvSpPr>
          <p:cNvPr id="16" name="Shape 14"/>
          <p:cNvSpPr/>
          <p:nvPr/>
        </p:nvSpPr>
        <p:spPr>
          <a:xfrm>
            <a:off x="3218688" y="1005840"/>
            <a:ext cx="1234440" cy="3017520"/>
          </a:xfrm>
          <a:prstGeom prst="rect">
            <a:avLst/>
          </a:prstGeom>
          <a:solidFill>
            <a:srgbClr val="0077B6"/>
          </a:solidFill>
          <a:ln w="12700">
            <a:solidFill>
              <a:srgbClr val="00B4D8"/>
            </a:solidFill>
            <a:prstDash val="solid"/>
          </a:ln>
        </p:spPr>
        <p:txBody>
          <a:bodyPr/>
          <a:lstStyle/>
          <a:p>
            <a:endParaRPr lang="en-IN"/>
          </a:p>
        </p:txBody>
      </p:sp>
      <p:sp>
        <p:nvSpPr>
          <p:cNvPr id="17" name="Text 15"/>
          <p:cNvSpPr/>
          <p:nvPr/>
        </p:nvSpPr>
        <p:spPr>
          <a:xfrm>
            <a:off x="3218688"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Shape 16"/>
          <p:cNvSpPr/>
          <p:nvPr/>
        </p:nvSpPr>
        <p:spPr>
          <a:xfrm>
            <a:off x="3675888"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19" name="Text 17"/>
          <p:cNvSpPr/>
          <p:nvPr/>
        </p:nvSpPr>
        <p:spPr>
          <a:xfrm>
            <a:off x="3675888"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3</a:t>
            </a:r>
            <a:endParaRPr lang="en-US" sz="1100" dirty="0"/>
          </a:p>
        </p:txBody>
      </p:sp>
      <p:sp>
        <p:nvSpPr>
          <p:cNvPr id="20" name="Text 18"/>
          <p:cNvSpPr/>
          <p:nvPr/>
        </p:nvSpPr>
        <p:spPr>
          <a:xfrm>
            <a:off x="3172968"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Slot Filling Agent</a:t>
            </a:r>
            <a:endParaRPr lang="en-US" sz="1100" dirty="0"/>
          </a:p>
        </p:txBody>
      </p:sp>
      <p:sp>
        <p:nvSpPr>
          <p:cNvPr id="21" name="Shape 19"/>
          <p:cNvSpPr/>
          <p:nvPr/>
        </p:nvSpPr>
        <p:spPr>
          <a:xfrm>
            <a:off x="4453128" y="2377440"/>
            <a:ext cx="201168" cy="54864"/>
          </a:xfrm>
          <a:prstGeom prst="rect">
            <a:avLst/>
          </a:prstGeom>
          <a:solidFill>
            <a:srgbClr val="90E0EF"/>
          </a:solidFill>
          <a:ln w="12700">
            <a:solidFill>
              <a:srgbClr val="90E0EF"/>
            </a:solidFill>
            <a:prstDash val="solid"/>
          </a:ln>
        </p:spPr>
        <p:txBody>
          <a:bodyPr/>
          <a:lstStyle/>
          <a:p>
            <a:endParaRPr lang="en-IN"/>
          </a:p>
        </p:txBody>
      </p:sp>
      <p:sp>
        <p:nvSpPr>
          <p:cNvPr id="22" name="Shape 20"/>
          <p:cNvSpPr/>
          <p:nvPr/>
        </p:nvSpPr>
        <p:spPr>
          <a:xfrm>
            <a:off x="4654296" y="1005840"/>
            <a:ext cx="1234440" cy="3017520"/>
          </a:xfrm>
          <a:prstGeom prst="rect">
            <a:avLst/>
          </a:prstGeom>
          <a:solidFill>
            <a:srgbClr val="005F8E"/>
          </a:solidFill>
          <a:ln w="12700">
            <a:solidFill>
              <a:srgbClr val="00B4D8"/>
            </a:solidFill>
            <a:prstDash val="solid"/>
          </a:ln>
        </p:spPr>
        <p:txBody>
          <a:bodyPr/>
          <a:lstStyle/>
          <a:p>
            <a:endParaRPr lang="en-IN"/>
          </a:p>
        </p:txBody>
      </p:sp>
      <p:sp>
        <p:nvSpPr>
          <p:cNvPr id="23" name="Text 21"/>
          <p:cNvSpPr/>
          <p:nvPr/>
        </p:nvSpPr>
        <p:spPr>
          <a:xfrm>
            <a:off x="4654296"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4" name="Shape 22"/>
          <p:cNvSpPr/>
          <p:nvPr/>
        </p:nvSpPr>
        <p:spPr>
          <a:xfrm>
            <a:off x="5111496"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25" name="Text 23"/>
          <p:cNvSpPr/>
          <p:nvPr/>
        </p:nvSpPr>
        <p:spPr>
          <a:xfrm>
            <a:off x="5111496"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4</a:t>
            </a:r>
            <a:endParaRPr lang="en-US" sz="1100" dirty="0"/>
          </a:p>
        </p:txBody>
      </p:sp>
      <p:sp>
        <p:nvSpPr>
          <p:cNvPr id="26" name="Text 24"/>
          <p:cNvSpPr/>
          <p:nvPr/>
        </p:nvSpPr>
        <p:spPr>
          <a:xfrm>
            <a:off x="4608576"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HRIS Validation</a:t>
            </a:r>
            <a:endParaRPr lang="en-US" sz="1100" dirty="0"/>
          </a:p>
        </p:txBody>
      </p:sp>
      <p:sp>
        <p:nvSpPr>
          <p:cNvPr id="27" name="Shape 25"/>
          <p:cNvSpPr/>
          <p:nvPr/>
        </p:nvSpPr>
        <p:spPr>
          <a:xfrm>
            <a:off x="5888736" y="2377440"/>
            <a:ext cx="201168" cy="54864"/>
          </a:xfrm>
          <a:prstGeom prst="rect">
            <a:avLst/>
          </a:prstGeom>
          <a:solidFill>
            <a:srgbClr val="90E0EF"/>
          </a:solidFill>
          <a:ln w="12700">
            <a:solidFill>
              <a:srgbClr val="90E0EF"/>
            </a:solidFill>
            <a:prstDash val="solid"/>
          </a:ln>
        </p:spPr>
        <p:txBody>
          <a:bodyPr/>
          <a:lstStyle/>
          <a:p>
            <a:endParaRPr lang="en-IN"/>
          </a:p>
        </p:txBody>
      </p:sp>
      <p:sp>
        <p:nvSpPr>
          <p:cNvPr id="28" name="Shape 26"/>
          <p:cNvSpPr/>
          <p:nvPr/>
        </p:nvSpPr>
        <p:spPr>
          <a:xfrm>
            <a:off x="6089904" y="1005840"/>
            <a:ext cx="1234440" cy="3017520"/>
          </a:xfrm>
          <a:prstGeom prst="rect">
            <a:avLst/>
          </a:prstGeom>
          <a:solidFill>
            <a:srgbClr val="004A70"/>
          </a:solidFill>
          <a:ln w="12700">
            <a:solidFill>
              <a:srgbClr val="00B4D8"/>
            </a:solidFill>
            <a:prstDash val="solid"/>
          </a:ln>
        </p:spPr>
        <p:txBody>
          <a:bodyPr/>
          <a:lstStyle/>
          <a:p>
            <a:endParaRPr lang="en-IN"/>
          </a:p>
        </p:txBody>
      </p:sp>
      <p:sp>
        <p:nvSpPr>
          <p:cNvPr id="29" name="Text 27"/>
          <p:cNvSpPr/>
          <p:nvPr/>
        </p:nvSpPr>
        <p:spPr>
          <a:xfrm>
            <a:off x="6089904"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0" name="Shape 28"/>
          <p:cNvSpPr/>
          <p:nvPr/>
        </p:nvSpPr>
        <p:spPr>
          <a:xfrm>
            <a:off x="6547104"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31" name="Text 29"/>
          <p:cNvSpPr/>
          <p:nvPr/>
        </p:nvSpPr>
        <p:spPr>
          <a:xfrm>
            <a:off x="6547104"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5</a:t>
            </a:r>
            <a:endParaRPr lang="en-US" sz="1100" dirty="0"/>
          </a:p>
        </p:txBody>
      </p:sp>
      <p:sp>
        <p:nvSpPr>
          <p:cNvPr id="32" name="Text 30"/>
          <p:cNvSpPr/>
          <p:nvPr/>
        </p:nvSpPr>
        <p:spPr>
          <a:xfrm>
            <a:off x="6044184"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Request Generation</a:t>
            </a:r>
            <a:endParaRPr lang="en-US" sz="1100" dirty="0"/>
          </a:p>
        </p:txBody>
      </p:sp>
      <p:sp>
        <p:nvSpPr>
          <p:cNvPr id="33" name="Shape 31"/>
          <p:cNvSpPr/>
          <p:nvPr/>
        </p:nvSpPr>
        <p:spPr>
          <a:xfrm>
            <a:off x="7324344" y="2377440"/>
            <a:ext cx="201168" cy="54864"/>
          </a:xfrm>
          <a:prstGeom prst="rect">
            <a:avLst/>
          </a:prstGeom>
          <a:solidFill>
            <a:srgbClr val="90E0EF"/>
          </a:solidFill>
          <a:ln w="12700">
            <a:solidFill>
              <a:srgbClr val="90E0EF"/>
            </a:solidFill>
            <a:prstDash val="solid"/>
          </a:ln>
        </p:spPr>
        <p:txBody>
          <a:bodyPr/>
          <a:lstStyle/>
          <a:p>
            <a:endParaRPr lang="en-IN"/>
          </a:p>
        </p:txBody>
      </p:sp>
      <p:sp>
        <p:nvSpPr>
          <p:cNvPr id="34" name="Shape 32"/>
          <p:cNvSpPr/>
          <p:nvPr/>
        </p:nvSpPr>
        <p:spPr>
          <a:xfrm>
            <a:off x="7525512" y="1005840"/>
            <a:ext cx="1234440" cy="3017520"/>
          </a:xfrm>
          <a:prstGeom prst="rect">
            <a:avLst/>
          </a:prstGeom>
          <a:solidFill>
            <a:srgbClr val="003554"/>
          </a:solidFill>
          <a:ln w="12700">
            <a:solidFill>
              <a:srgbClr val="00B4D8"/>
            </a:solidFill>
            <a:prstDash val="solid"/>
          </a:ln>
        </p:spPr>
        <p:txBody>
          <a:bodyPr/>
          <a:lstStyle/>
          <a:p>
            <a:endParaRPr lang="en-IN"/>
          </a:p>
        </p:txBody>
      </p:sp>
      <p:sp>
        <p:nvSpPr>
          <p:cNvPr id="35" name="Text 33"/>
          <p:cNvSpPr/>
          <p:nvPr/>
        </p:nvSpPr>
        <p:spPr>
          <a:xfrm>
            <a:off x="7525512" y="1143000"/>
            <a:ext cx="1234440" cy="64008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6" name="Shape 34"/>
          <p:cNvSpPr/>
          <p:nvPr/>
        </p:nvSpPr>
        <p:spPr>
          <a:xfrm>
            <a:off x="7982712" y="1691640"/>
            <a:ext cx="320040" cy="320040"/>
          </a:xfrm>
          <a:prstGeom prst="ellipse">
            <a:avLst/>
          </a:prstGeom>
          <a:solidFill>
            <a:srgbClr val="FFFFFF"/>
          </a:solidFill>
          <a:ln w="12700">
            <a:solidFill>
              <a:srgbClr val="FFFFFF"/>
            </a:solidFill>
            <a:prstDash val="solid"/>
          </a:ln>
        </p:spPr>
        <p:txBody>
          <a:bodyPr/>
          <a:lstStyle/>
          <a:p>
            <a:endParaRPr lang="en-IN"/>
          </a:p>
        </p:txBody>
      </p:sp>
      <p:sp>
        <p:nvSpPr>
          <p:cNvPr id="37" name="Text 35"/>
          <p:cNvSpPr/>
          <p:nvPr/>
        </p:nvSpPr>
        <p:spPr>
          <a:xfrm>
            <a:off x="7982712" y="1691640"/>
            <a:ext cx="320040" cy="320040"/>
          </a:xfrm>
          <a:prstGeom prst="rect">
            <a:avLst/>
          </a:prstGeom>
          <a:noFill/>
          <a:ln/>
        </p:spPr>
        <p:txBody>
          <a:bodyPr wrap="square" lIns="0" tIns="0" rIns="0" bIns="0" rtlCol="0" anchor="ctr"/>
          <a:lstStyle/>
          <a:p>
            <a:pPr marL="0" indent="0" algn="ctr">
              <a:buNone/>
            </a:pPr>
            <a:r>
              <a:rPr lang="en-US" sz="1100" b="1" dirty="0">
                <a:solidFill>
                  <a:srgbClr val="0D1B2A"/>
                </a:solidFill>
              </a:rPr>
              <a:t>6</a:t>
            </a:r>
            <a:endParaRPr lang="en-US" sz="1100" dirty="0"/>
          </a:p>
        </p:txBody>
      </p:sp>
      <p:sp>
        <p:nvSpPr>
          <p:cNvPr id="38" name="Text 36"/>
          <p:cNvSpPr/>
          <p:nvPr/>
        </p:nvSpPr>
        <p:spPr>
          <a:xfrm>
            <a:off x="7479792" y="2148840"/>
            <a:ext cx="1325880" cy="178308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SQLite Database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Technology Stack</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20040" y="960120"/>
            <a:ext cx="2651760" cy="1645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320040" y="960120"/>
            <a:ext cx="2651760" cy="54864"/>
          </a:xfrm>
          <a:prstGeom prst="rect">
            <a:avLst/>
          </a:prstGeom>
          <a:solidFill>
            <a:srgbClr val="3776AB"/>
          </a:solidFill>
          <a:ln w="12700">
            <a:solidFill>
              <a:srgbClr val="3776AB"/>
            </a:solidFill>
            <a:prstDash val="solid"/>
          </a:ln>
        </p:spPr>
        <p:txBody>
          <a:bodyPr/>
          <a:lstStyle/>
          <a:p>
            <a:endParaRPr lang="en-IN"/>
          </a:p>
        </p:txBody>
      </p:sp>
      <p:sp>
        <p:nvSpPr>
          <p:cNvPr id="7" name="Text 5"/>
          <p:cNvSpPr/>
          <p:nvPr/>
        </p:nvSpPr>
        <p:spPr>
          <a:xfrm>
            <a:off x="320040" y="1069848"/>
            <a:ext cx="2651760" cy="59436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429768" y="1709928"/>
            <a:ext cx="24323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rebuchet MS" pitchFamily="34" charset="0"/>
                <a:ea typeface="Trebuchet MS" pitchFamily="34" charset="-122"/>
                <a:cs typeface="Trebuchet MS" pitchFamily="34" charset="-120"/>
              </a:rPr>
              <a:t>Python</a:t>
            </a:r>
            <a:endParaRPr lang="en-US" sz="1300" dirty="0"/>
          </a:p>
        </p:txBody>
      </p:sp>
      <p:sp>
        <p:nvSpPr>
          <p:cNvPr id="9" name="Text 7"/>
          <p:cNvSpPr/>
          <p:nvPr/>
        </p:nvSpPr>
        <p:spPr>
          <a:xfrm>
            <a:off x="411480" y="2075688"/>
            <a:ext cx="2468880" cy="43891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Backend Development</a:t>
            </a:r>
            <a:endParaRPr lang="en-US" sz="1100" dirty="0"/>
          </a:p>
        </p:txBody>
      </p:sp>
      <p:sp>
        <p:nvSpPr>
          <p:cNvPr id="10" name="Shape 8"/>
          <p:cNvSpPr/>
          <p:nvPr/>
        </p:nvSpPr>
        <p:spPr>
          <a:xfrm>
            <a:off x="3172968" y="960120"/>
            <a:ext cx="2651760" cy="1645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3172968" y="960120"/>
            <a:ext cx="2651760" cy="54864"/>
          </a:xfrm>
          <a:prstGeom prst="rect">
            <a:avLst/>
          </a:prstGeom>
          <a:solidFill>
            <a:srgbClr val="229ED9"/>
          </a:solidFill>
          <a:ln w="12700">
            <a:solidFill>
              <a:srgbClr val="229ED9"/>
            </a:solidFill>
            <a:prstDash val="solid"/>
          </a:ln>
        </p:spPr>
        <p:txBody>
          <a:bodyPr/>
          <a:lstStyle/>
          <a:p>
            <a:endParaRPr lang="en-IN"/>
          </a:p>
        </p:txBody>
      </p:sp>
      <p:sp>
        <p:nvSpPr>
          <p:cNvPr id="12" name="Text 10"/>
          <p:cNvSpPr/>
          <p:nvPr/>
        </p:nvSpPr>
        <p:spPr>
          <a:xfrm>
            <a:off x="3172968" y="1069848"/>
            <a:ext cx="2651760" cy="59436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3" name="Text 11"/>
          <p:cNvSpPr/>
          <p:nvPr/>
        </p:nvSpPr>
        <p:spPr>
          <a:xfrm>
            <a:off x="3282696" y="1709928"/>
            <a:ext cx="24323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rebuchet MS" pitchFamily="34" charset="0"/>
                <a:ea typeface="Trebuchet MS" pitchFamily="34" charset="-122"/>
                <a:cs typeface="Trebuchet MS" pitchFamily="34" charset="-120"/>
              </a:rPr>
              <a:t>Telegram Bot API</a:t>
            </a:r>
            <a:endParaRPr lang="en-US" sz="1300" dirty="0"/>
          </a:p>
        </p:txBody>
      </p:sp>
      <p:sp>
        <p:nvSpPr>
          <p:cNvPr id="14" name="Text 12"/>
          <p:cNvSpPr/>
          <p:nvPr/>
        </p:nvSpPr>
        <p:spPr>
          <a:xfrm>
            <a:off x="3264408" y="2075688"/>
            <a:ext cx="2468880" cy="43891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User Interface &amp; Interaction</a:t>
            </a:r>
            <a:endParaRPr lang="en-US" sz="1100" dirty="0"/>
          </a:p>
        </p:txBody>
      </p:sp>
      <p:sp>
        <p:nvSpPr>
          <p:cNvPr id="15" name="Shape 13"/>
          <p:cNvSpPr/>
          <p:nvPr/>
        </p:nvSpPr>
        <p:spPr>
          <a:xfrm>
            <a:off x="6025896" y="960120"/>
            <a:ext cx="2651760" cy="1645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6025896" y="960120"/>
            <a:ext cx="2651760" cy="54864"/>
          </a:xfrm>
          <a:prstGeom prst="rect">
            <a:avLst/>
          </a:prstGeom>
          <a:solidFill>
            <a:srgbClr val="003B57"/>
          </a:solidFill>
          <a:ln w="12700">
            <a:solidFill>
              <a:srgbClr val="003B57"/>
            </a:solidFill>
            <a:prstDash val="solid"/>
          </a:ln>
        </p:spPr>
        <p:txBody>
          <a:bodyPr/>
          <a:lstStyle/>
          <a:p>
            <a:endParaRPr lang="en-IN"/>
          </a:p>
        </p:txBody>
      </p:sp>
      <p:sp>
        <p:nvSpPr>
          <p:cNvPr id="17" name="Text 15"/>
          <p:cNvSpPr/>
          <p:nvPr/>
        </p:nvSpPr>
        <p:spPr>
          <a:xfrm>
            <a:off x="6025896" y="1069848"/>
            <a:ext cx="2651760" cy="59436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8" name="Text 16"/>
          <p:cNvSpPr/>
          <p:nvPr/>
        </p:nvSpPr>
        <p:spPr>
          <a:xfrm>
            <a:off x="6135624" y="1709928"/>
            <a:ext cx="24323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rebuchet MS" pitchFamily="34" charset="0"/>
                <a:ea typeface="Trebuchet MS" pitchFamily="34" charset="-122"/>
                <a:cs typeface="Trebuchet MS" pitchFamily="34" charset="-120"/>
              </a:rPr>
              <a:t>SQLite</a:t>
            </a:r>
            <a:endParaRPr lang="en-US" sz="1300" dirty="0"/>
          </a:p>
        </p:txBody>
      </p:sp>
      <p:sp>
        <p:nvSpPr>
          <p:cNvPr id="19" name="Text 17"/>
          <p:cNvSpPr/>
          <p:nvPr/>
        </p:nvSpPr>
        <p:spPr>
          <a:xfrm>
            <a:off x="6117336" y="2075688"/>
            <a:ext cx="2468880" cy="43891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Database Storage</a:t>
            </a:r>
            <a:endParaRPr lang="en-US" sz="1100" dirty="0"/>
          </a:p>
        </p:txBody>
      </p:sp>
      <p:sp>
        <p:nvSpPr>
          <p:cNvPr id="20" name="Shape 18"/>
          <p:cNvSpPr/>
          <p:nvPr/>
        </p:nvSpPr>
        <p:spPr>
          <a:xfrm>
            <a:off x="320040" y="2880360"/>
            <a:ext cx="2651760" cy="1645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320040" y="2880360"/>
            <a:ext cx="2651760" cy="54864"/>
          </a:xfrm>
          <a:prstGeom prst="rect">
            <a:avLst/>
          </a:prstGeom>
          <a:solidFill>
            <a:srgbClr val="2E7D32"/>
          </a:solidFill>
          <a:ln w="12700">
            <a:solidFill>
              <a:srgbClr val="2E7D32"/>
            </a:solidFill>
            <a:prstDash val="solid"/>
          </a:ln>
        </p:spPr>
        <p:txBody>
          <a:bodyPr/>
          <a:lstStyle/>
          <a:p>
            <a:endParaRPr lang="en-IN"/>
          </a:p>
        </p:txBody>
      </p:sp>
      <p:sp>
        <p:nvSpPr>
          <p:cNvPr id="22" name="Text 20"/>
          <p:cNvSpPr/>
          <p:nvPr/>
        </p:nvSpPr>
        <p:spPr>
          <a:xfrm>
            <a:off x="320040" y="2990088"/>
            <a:ext cx="2651760" cy="59436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3" name="Text 21"/>
          <p:cNvSpPr/>
          <p:nvPr/>
        </p:nvSpPr>
        <p:spPr>
          <a:xfrm>
            <a:off x="429768" y="3630168"/>
            <a:ext cx="24323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rebuchet MS" pitchFamily="34" charset="0"/>
                <a:ea typeface="Trebuchet MS" pitchFamily="34" charset="-122"/>
                <a:cs typeface="Trebuchet MS" pitchFamily="34" charset="-120"/>
              </a:rPr>
              <a:t>JSON</a:t>
            </a:r>
            <a:endParaRPr lang="en-US" sz="1300" dirty="0"/>
          </a:p>
        </p:txBody>
      </p:sp>
      <p:sp>
        <p:nvSpPr>
          <p:cNvPr id="24" name="Text 22"/>
          <p:cNvSpPr/>
          <p:nvPr/>
        </p:nvSpPr>
        <p:spPr>
          <a:xfrm>
            <a:off x="411480" y="3995928"/>
            <a:ext cx="2468880" cy="43891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HRIS Data Storage</a:t>
            </a:r>
            <a:endParaRPr lang="en-US" sz="1100" dirty="0"/>
          </a:p>
        </p:txBody>
      </p:sp>
      <p:sp>
        <p:nvSpPr>
          <p:cNvPr id="25" name="Shape 23"/>
          <p:cNvSpPr/>
          <p:nvPr/>
        </p:nvSpPr>
        <p:spPr>
          <a:xfrm>
            <a:off x="3172968" y="2880360"/>
            <a:ext cx="2651760" cy="1645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3172968" y="2880360"/>
            <a:ext cx="2651760" cy="54864"/>
          </a:xfrm>
          <a:prstGeom prst="rect">
            <a:avLst/>
          </a:prstGeom>
          <a:solidFill>
            <a:srgbClr val="7B1FA2"/>
          </a:solidFill>
          <a:ln w="12700">
            <a:solidFill>
              <a:srgbClr val="7B1FA2"/>
            </a:solidFill>
            <a:prstDash val="solid"/>
          </a:ln>
        </p:spPr>
        <p:txBody>
          <a:bodyPr/>
          <a:lstStyle/>
          <a:p>
            <a:endParaRPr lang="en-IN"/>
          </a:p>
        </p:txBody>
      </p:sp>
      <p:sp>
        <p:nvSpPr>
          <p:cNvPr id="27" name="Text 25"/>
          <p:cNvSpPr/>
          <p:nvPr/>
        </p:nvSpPr>
        <p:spPr>
          <a:xfrm>
            <a:off x="3172968" y="2990088"/>
            <a:ext cx="2651760" cy="59436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3282696" y="3630168"/>
            <a:ext cx="2432304" cy="347472"/>
          </a:xfrm>
          <a:prstGeom prst="rect">
            <a:avLst/>
          </a:prstGeom>
          <a:noFill/>
          <a:ln/>
        </p:spPr>
        <p:txBody>
          <a:bodyPr wrap="square" lIns="0" tIns="0" rIns="0" bIns="0" rtlCol="0" anchor="ctr"/>
          <a:lstStyle/>
          <a:p>
            <a:pPr marL="0" indent="0" algn="ctr">
              <a:buNone/>
            </a:pPr>
            <a:r>
              <a:rPr lang="en-US" sz="1300" b="1" dirty="0">
                <a:solidFill>
                  <a:srgbClr val="0D1B2A"/>
                </a:solidFill>
                <a:latin typeface="Trebuchet MS" pitchFamily="34" charset="0"/>
                <a:ea typeface="Trebuchet MS" pitchFamily="34" charset="-122"/>
                <a:cs typeface="Trebuchet MS" pitchFamily="34" charset="-120"/>
              </a:rPr>
              <a:t>python-telegram-bot</a:t>
            </a:r>
            <a:endParaRPr lang="en-US" sz="1300" dirty="0"/>
          </a:p>
        </p:txBody>
      </p:sp>
      <p:sp>
        <p:nvSpPr>
          <p:cNvPr id="29" name="Text 27"/>
          <p:cNvSpPr/>
          <p:nvPr/>
        </p:nvSpPr>
        <p:spPr>
          <a:xfrm>
            <a:off x="3264408" y="3995928"/>
            <a:ext cx="2468880" cy="438912"/>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Telegram Integration Library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Project Architecture</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457200" y="841248"/>
            <a:ext cx="3474720" cy="502920"/>
          </a:xfrm>
          <a:prstGeom prst="rect">
            <a:avLst/>
          </a:prstGeom>
          <a:solidFill>
            <a:srgbClr val="00B4D8"/>
          </a:solidFill>
          <a:ln w="12700">
            <a:solidFill>
              <a:srgbClr val="00B4D8"/>
            </a:solidFill>
            <a:prstDash val="solid"/>
          </a:ln>
        </p:spPr>
        <p:txBody>
          <a:bodyPr/>
          <a:lstStyle/>
          <a:p>
            <a:endParaRPr lang="en-IN"/>
          </a:p>
        </p:txBody>
      </p:sp>
      <p:sp>
        <p:nvSpPr>
          <p:cNvPr id="6" name="Text 4"/>
          <p:cNvSpPr/>
          <p:nvPr/>
        </p:nvSpPr>
        <p:spPr>
          <a:xfrm>
            <a:off x="457200" y="841248"/>
            <a:ext cx="3474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Telegram User</a:t>
            </a:r>
            <a:endParaRPr lang="en-US" sz="1300" dirty="0"/>
          </a:p>
        </p:txBody>
      </p:sp>
      <p:sp>
        <p:nvSpPr>
          <p:cNvPr id="7" name="Shape 5"/>
          <p:cNvSpPr/>
          <p:nvPr/>
        </p:nvSpPr>
        <p:spPr>
          <a:xfrm>
            <a:off x="1993392" y="1344168"/>
            <a:ext cx="54864" cy="155448"/>
          </a:xfrm>
          <a:prstGeom prst="rect">
            <a:avLst/>
          </a:prstGeom>
          <a:solidFill>
            <a:srgbClr val="00B4D8"/>
          </a:solidFill>
          <a:ln w="12700">
            <a:solidFill>
              <a:srgbClr val="00B4D8"/>
            </a:solidFill>
            <a:prstDash val="solid"/>
          </a:ln>
        </p:spPr>
        <p:txBody>
          <a:bodyPr/>
          <a:lstStyle/>
          <a:p>
            <a:endParaRPr lang="en-IN"/>
          </a:p>
        </p:txBody>
      </p:sp>
      <p:sp>
        <p:nvSpPr>
          <p:cNvPr id="8" name="Shape 6"/>
          <p:cNvSpPr/>
          <p:nvPr/>
        </p:nvSpPr>
        <p:spPr>
          <a:xfrm>
            <a:off x="457200" y="1499616"/>
            <a:ext cx="3474720" cy="502920"/>
          </a:xfrm>
          <a:prstGeom prst="rect">
            <a:avLst/>
          </a:prstGeom>
          <a:solidFill>
            <a:srgbClr val="0077B6"/>
          </a:solidFill>
          <a:ln w="12700">
            <a:solidFill>
              <a:srgbClr val="00B4D8"/>
            </a:solidFill>
            <a:prstDash val="solid"/>
          </a:ln>
        </p:spPr>
        <p:txBody>
          <a:bodyPr/>
          <a:lstStyle/>
          <a:p>
            <a:endParaRPr lang="en-IN"/>
          </a:p>
        </p:txBody>
      </p:sp>
      <p:sp>
        <p:nvSpPr>
          <p:cNvPr id="9" name="Text 7"/>
          <p:cNvSpPr/>
          <p:nvPr/>
        </p:nvSpPr>
        <p:spPr>
          <a:xfrm>
            <a:off x="457200" y="1499616"/>
            <a:ext cx="3474720" cy="50292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Telegram Bot  ·  bot.py</a:t>
            </a:r>
            <a:endParaRPr lang="en-US" sz="1300" dirty="0"/>
          </a:p>
        </p:txBody>
      </p:sp>
      <p:sp>
        <p:nvSpPr>
          <p:cNvPr id="10" name="Shape 8"/>
          <p:cNvSpPr/>
          <p:nvPr/>
        </p:nvSpPr>
        <p:spPr>
          <a:xfrm>
            <a:off x="1993392" y="2002536"/>
            <a:ext cx="54864" cy="155448"/>
          </a:xfrm>
          <a:prstGeom prst="rect">
            <a:avLst/>
          </a:prstGeom>
          <a:solidFill>
            <a:srgbClr val="00B4D8"/>
          </a:solidFill>
          <a:ln w="12700">
            <a:solidFill>
              <a:srgbClr val="00B4D8"/>
            </a:solidFill>
            <a:prstDash val="solid"/>
          </a:ln>
        </p:spPr>
        <p:txBody>
          <a:bodyPr/>
          <a:lstStyle/>
          <a:p>
            <a:endParaRPr lang="en-IN"/>
          </a:p>
        </p:txBody>
      </p:sp>
      <p:sp>
        <p:nvSpPr>
          <p:cNvPr id="11" name="Shape 9"/>
          <p:cNvSpPr/>
          <p:nvPr/>
        </p:nvSpPr>
        <p:spPr>
          <a:xfrm>
            <a:off x="457200" y="2157984"/>
            <a:ext cx="3474720" cy="502920"/>
          </a:xfrm>
          <a:prstGeom prst="rect">
            <a:avLst/>
          </a:prstGeom>
          <a:solidFill>
            <a:srgbClr val="005F8E"/>
          </a:solidFill>
          <a:ln w="12700">
            <a:solidFill>
              <a:srgbClr val="00B4D8"/>
            </a:solidFill>
            <a:prstDash val="solid"/>
          </a:ln>
        </p:spPr>
        <p:txBody>
          <a:bodyPr/>
          <a:lstStyle/>
          <a:p>
            <a:endParaRPr lang="en-IN"/>
          </a:p>
        </p:txBody>
      </p:sp>
      <p:sp>
        <p:nvSpPr>
          <p:cNvPr id="12" name="Text 10"/>
          <p:cNvSpPr/>
          <p:nvPr/>
        </p:nvSpPr>
        <p:spPr>
          <a:xfrm>
            <a:off x="457200" y="2157984"/>
            <a:ext cx="3474720" cy="50292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Agent  ·  agent.py</a:t>
            </a:r>
            <a:endParaRPr lang="en-US" sz="1300" dirty="0"/>
          </a:p>
        </p:txBody>
      </p:sp>
      <p:sp>
        <p:nvSpPr>
          <p:cNvPr id="13" name="Shape 11"/>
          <p:cNvSpPr/>
          <p:nvPr/>
        </p:nvSpPr>
        <p:spPr>
          <a:xfrm>
            <a:off x="1993392" y="2660904"/>
            <a:ext cx="54864" cy="155448"/>
          </a:xfrm>
          <a:prstGeom prst="rect">
            <a:avLst/>
          </a:prstGeom>
          <a:solidFill>
            <a:srgbClr val="00B4D8"/>
          </a:solidFill>
          <a:ln w="12700">
            <a:solidFill>
              <a:srgbClr val="00B4D8"/>
            </a:solidFill>
            <a:prstDash val="solid"/>
          </a:ln>
        </p:spPr>
        <p:txBody>
          <a:bodyPr/>
          <a:lstStyle/>
          <a:p>
            <a:endParaRPr lang="en-IN"/>
          </a:p>
        </p:txBody>
      </p:sp>
      <p:sp>
        <p:nvSpPr>
          <p:cNvPr id="14" name="Shape 12"/>
          <p:cNvSpPr/>
          <p:nvPr/>
        </p:nvSpPr>
        <p:spPr>
          <a:xfrm>
            <a:off x="457200" y="2816352"/>
            <a:ext cx="3474720" cy="502920"/>
          </a:xfrm>
          <a:prstGeom prst="rect">
            <a:avLst/>
          </a:prstGeom>
          <a:solidFill>
            <a:srgbClr val="004A70"/>
          </a:solidFill>
          <a:ln w="12700">
            <a:solidFill>
              <a:srgbClr val="00B4D8"/>
            </a:solidFill>
            <a:prstDash val="solid"/>
          </a:ln>
        </p:spPr>
        <p:txBody>
          <a:bodyPr/>
          <a:lstStyle/>
          <a:p>
            <a:endParaRPr lang="en-IN"/>
          </a:p>
        </p:txBody>
      </p:sp>
      <p:sp>
        <p:nvSpPr>
          <p:cNvPr id="15" name="Text 13"/>
          <p:cNvSpPr/>
          <p:nvPr/>
        </p:nvSpPr>
        <p:spPr>
          <a:xfrm>
            <a:off x="457200" y="2816352"/>
            <a:ext cx="3474720" cy="50292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Validation  ·  validation.py</a:t>
            </a:r>
            <a:endParaRPr lang="en-US" sz="1300" dirty="0"/>
          </a:p>
        </p:txBody>
      </p:sp>
      <p:sp>
        <p:nvSpPr>
          <p:cNvPr id="16" name="Shape 14"/>
          <p:cNvSpPr/>
          <p:nvPr/>
        </p:nvSpPr>
        <p:spPr>
          <a:xfrm>
            <a:off x="1993392" y="3319272"/>
            <a:ext cx="54864" cy="155448"/>
          </a:xfrm>
          <a:prstGeom prst="rect">
            <a:avLst/>
          </a:prstGeom>
          <a:solidFill>
            <a:srgbClr val="00B4D8"/>
          </a:solidFill>
          <a:ln w="12700">
            <a:solidFill>
              <a:srgbClr val="00B4D8"/>
            </a:solidFill>
            <a:prstDash val="solid"/>
          </a:ln>
        </p:spPr>
        <p:txBody>
          <a:bodyPr/>
          <a:lstStyle/>
          <a:p>
            <a:endParaRPr lang="en-IN"/>
          </a:p>
        </p:txBody>
      </p:sp>
      <p:sp>
        <p:nvSpPr>
          <p:cNvPr id="17" name="Shape 15"/>
          <p:cNvSpPr/>
          <p:nvPr/>
        </p:nvSpPr>
        <p:spPr>
          <a:xfrm>
            <a:off x="457200" y="3474720"/>
            <a:ext cx="3474720" cy="502920"/>
          </a:xfrm>
          <a:prstGeom prst="rect">
            <a:avLst/>
          </a:prstGeom>
          <a:solidFill>
            <a:srgbClr val="003554"/>
          </a:solidFill>
          <a:ln w="12700">
            <a:solidFill>
              <a:srgbClr val="00B4D8"/>
            </a:solidFill>
            <a:prstDash val="solid"/>
          </a:ln>
        </p:spPr>
        <p:txBody>
          <a:bodyPr/>
          <a:lstStyle/>
          <a:p>
            <a:endParaRPr lang="en-IN"/>
          </a:p>
        </p:txBody>
      </p:sp>
      <p:sp>
        <p:nvSpPr>
          <p:cNvPr id="18" name="Text 16"/>
          <p:cNvSpPr/>
          <p:nvPr/>
        </p:nvSpPr>
        <p:spPr>
          <a:xfrm>
            <a:off x="457200" y="3474720"/>
            <a:ext cx="3474720" cy="50292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Database  ·  database.py</a:t>
            </a:r>
            <a:endParaRPr lang="en-US" sz="1300" dirty="0"/>
          </a:p>
        </p:txBody>
      </p:sp>
      <p:sp>
        <p:nvSpPr>
          <p:cNvPr id="19" name="Shape 17"/>
          <p:cNvSpPr/>
          <p:nvPr/>
        </p:nvSpPr>
        <p:spPr>
          <a:xfrm>
            <a:off x="1993392" y="3977640"/>
            <a:ext cx="54864" cy="155448"/>
          </a:xfrm>
          <a:prstGeom prst="rect">
            <a:avLst/>
          </a:prstGeom>
          <a:solidFill>
            <a:srgbClr val="00B4D8"/>
          </a:solidFill>
          <a:ln w="12700">
            <a:solidFill>
              <a:srgbClr val="00B4D8"/>
            </a:solidFill>
            <a:prstDash val="solid"/>
          </a:ln>
        </p:spPr>
        <p:txBody>
          <a:bodyPr/>
          <a:lstStyle/>
          <a:p>
            <a:endParaRPr lang="en-IN"/>
          </a:p>
        </p:txBody>
      </p:sp>
      <p:sp>
        <p:nvSpPr>
          <p:cNvPr id="20" name="Shape 18"/>
          <p:cNvSpPr/>
          <p:nvPr/>
        </p:nvSpPr>
        <p:spPr>
          <a:xfrm>
            <a:off x="457200" y="4133088"/>
            <a:ext cx="3474720" cy="502920"/>
          </a:xfrm>
          <a:prstGeom prst="rect">
            <a:avLst/>
          </a:prstGeom>
          <a:solidFill>
            <a:srgbClr val="0D1B2A"/>
          </a:solidFill>
          <a:ln w="12700">
            <a:solidFill>
              <a:srgbClr val="00B4D8"/>
            </a:solidFill>
            <a:prstDash val="solid"/>
          </a:ln>
        </p:spPr>
        <p:txBody>
          <a:bodyPr/>
          <a:lstStyle/>
          <a:p>
            <a:endParaRPr lang="en-IN"/>
          </a:p>
        </p:txBody>
      </p:sp>
      <p:sp>
        <p:nvSpPr>
          <p:cNvPr id="21" name="Text 19"/>
          <p:cNvSpPr/>
          <p:nvPr/>
        </p:nvSpPr>
        <p:spPr>
          <a:xfrm>
            <a:off x="457200" y="4133088"/>
            <a:ext cx="3474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SQLite Database</a:t>
            </a:r>
            <a:endParaRPr lang="en-US" sz="1300" dirty="0"/>
          </a:p>
        </p:txBody>
      </p:sp>
      <p:sp>
        <p:nvSpPr>
          <p:cNvPr id="22" name="Shape 20"/>
          <p:cNvSpPr/>
          <p:nvPr/>
        </p:nvSpPr>
        <p:spPr>
          <a:xfrm>
            <a:off x="4754880" y="841248"/>
            <a:ext cx="4023360" cy="3950208"/>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21"/>
          <p:cNvSpPr/>
          <p:nvPr/>
        </p:nvSpPr>
        <p:spPr>
          <a:xfrm>
            <a:off x="4754880" y="841248"/>
            <a:ext cx="4023360" cy="457200"/>
          </a:xfrm>
          <a:prstGeom prst="rect">
            <a:avLst/>
          </a:prstGeom>
          <a:solidFill>
            <a:srgbClr val="0D1B2A"/>
          </a:solidFill>
          <a:ln w="12700">
            <a:solidFill>
              <a:srgbClr val="0D1B2A"/>
            </a:solidFill>
            <a:prstDash val="solid"/>
          </a:ln>
        </p:spPr>
        <p:txBody>
          <a:bodyPr/>
          <a:lstStyle/>
          <a:p>
            <a:endParaRPr lang="en-IN"/>
          </a:p>
        </p:txBody>
      </p:sp>
      <p:sp>
        <p:nvSpPr>
          <p:cNvPr id="24" name="Text 22"/>
          <p:cNvSpPr/>
          <p:nvPr/>
        </p:nvSpPr>
        <p:spPr>
          <a:xfrm>
            <a:off x="4754880" y="841248"/>
            <a:ext cx="4023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Components</a:t>
            </a:r>
            <a:endParaRPr lang="en-US" sz="1400" dirty="0"/>
          </a:p>
        </p:txBody>
      </p:sp>
      <p:sp>
        <p:nvSpPr>
          <p:cNvPr id="25" name="Text 23"/>
          <p:cNvSpPr/>
          <p:nvPr/>
        </p:nvSpPr>
        <p:spPr>
          <a:xfrm>
            <a:off x="4892040" y="1444752"/>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5394960" y="1444752"/>
            <a:ext cx="2286000" cy="22860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Bot Module</a:t>
            </a:r>
            <a:endParaRPr lang="en-US" sz="1300" dirty="0"/>
          </a:p>
        </p:txBody>
      </p:sp>
      <p:sp>
        <p:nvSpPr>
          <p:cNvPr id="27" name="Text 25"/>
          <p:cNvSpPr/>
          <p:nvPr/>
        </p:nvSpPr>
        <p:spPr>
          <a:xfrm>
            <a:off x="5394960" y="1673352"/>
            <a:ext cx="242316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Handles user interaction via Telegram</a:t>
            </a:r>
            <a:endParaRPr lang="en-US" sz="1100" dirty="0"/>
          </a:p>
        </p:txBody>
      </p:sp>
      <p:sp>
        <p:nvSpPr>
          <p:cNvPr id="28" name="Text 26"/>
          <p:cNvSpPr/>
          <p:nvPr/>
        </p:nvSpPr>
        <p:spPr>
          <a:xfrm>
            <a:off x="4892040" y="2157984"/>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9" name="Text 27"/>
          <p:cNvSpPr/>
          <p:nvPr/>
        </p:nvSpPr>
        <p:spPr>
          <a:xfrm>
            <a:off x="5394960" y="2157984"/>
            <a:ext cx="2286000" cy="22860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Agent Module</a:t>
            </a:r>
            <a:endParaRPr lang="en-US" sz="1300" dirty="0"/>
          </a:p>
        </p:txBody>
      </p:sp>
      <p:sp>
        <p:nvSpPr>
          <p:cNvPr id="30" name="Text 28"/>
          <p:cNvSpPr/>
          <p:nvPr/>
        </p:nvSpPr>
        <p:spPr>
          <a:xfrm>
            <a:off x="5394960" y="2386584"/>
            <a:ext cx="242316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Slot filling &amp; conversation management</a:t>
            </a:r>
            <a:endParaRPr lang="en-US" sz="1100" dirty="0"/>
          </a:p>
        </p:txBody>
      </p:sp>
      <p:sp>
        <p:nvSpPr>
          <p:cNvPr id="31" name="Text 29"/>
          <p:cNvSpPr/>
          <p:nvPr/>
        </p:nvSpPr>
        <p:spPr>
          <a:xfrm>
            <a:off x="4892040" y="2871216"/>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394960" y="2871216"/>
            <a:ext cx="2286000" cy="22860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Validation Module</a:t>
            </a:r>
            <a:endParaRPr lang="en-US" sz="1300" dirty="0"/>
          </a:p>
        </p:txBody>
      </p:sp>
      <p:sp>
        <p:nvSpPr>
          <p:cNvPr id="33" name="Text 31"/>
          <p:cNvSpPr/>
          <p:nvPr/>
        </p:nvSpPr>
        <p:spPr>
          <a:xfrm>
            <a:off x="5394960" y="3099816"/>
            <a:ext cx="242316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Employee HRIS verification</a:t>
            </a:r>
            <a:endParaRPr lang="en-US" sz="1100" dirty="0"/>
          </a:p>
        </p:txBody>
      </p:sp>
      <p:sp>
        <p:nvSpPr>
          <p:cNvPr id="34" name="Text 32"/>
          <p:cNvSpPr/>
          <p:nvPr/>
        </p:nvSpPr>
        <p:spPr>
          <a:xfrm>
            <a:off x="4892040" y="3584448"/>
            <a:ext cx="457200" cy="45720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5" name="Text 33"/>
          <p:cNvSpPr/>
          <p:nvPr/>
        </p:nvSpPr>
        <p:spPr>
          <a:xfrm>
            <a:off x="5394960" y="3584448"/>
            <a:ext cx="2286000" cy="22860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Database Module</a:t>
            </a:r>
            <a:endParaRPr lang="en-US" sz="1300" dirty="0"/>
          </a:p>
        </p:txBody>
      </p:sp>
      <p:sp>
        <p:nvSpPr>
          <p:cNvPr id="36" name="Text 34"/>
          <p:cNvSpPr/>
          <p:nvPr/>
        </p:nvSpPr>
        <p:spPr>
          <a:xfrm>
            <a:off x="5394960" y="3813048"/>
            <a:ext cx="2423160" cy="25603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SQLite CRUD operations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Project Structure</a:t>
            </a:r>
            <a:endParaRPr lang="en-US" sz="2600" dirty="0"/>
          </a:p>
        </p:txBody>
      </p:sp>
      <p:sp>
        <p:nvSpPr>
          <p:cNvPr id="4" name="Shape 2"/>
          <p:cNvSpPr/>
          <p:nvPr/>
        </p:nvSpPr>
        <p:spPr>
          <a:xfrm>
            <a:off x="457200" y="841248"/>
            <a:ext cx="4389120" cy="3977640"/>
          </a:xfrm>
          <a:prstGeom prst="rect">
            <a:avLst/>
          </a:prstGeom>
          <a:solidFill>
            <a:srgbClr val="111827"/>
          </a:solidFill>
          <a:ln w="12700">
            <a:solidFill>
              <a:srgbClr val="00B4D8"/>
            </a:solidFill>
            <a:prstDash val="solid"/>
          </a:ln>
        </p:spPr>
        <p:txBody>
          <a:bodyPr/>
          <a:lstStyle/>
          <a:p>
            <a:endParaRPr lang="en-IN"/>
          </a:p>
        </p:txBody>
      </p:sp>
      <p:sp>
        <p:nvSpPr>
          <p:cNvPr id="5" name="Shape 3"/>
          <p:cNvSpPr/>
          <p:nvPr/>
        </p:nvSpPr>
        <p:spPr>
          <a:xfrm>
            <a:off x="658368" y="950976"/>
            <a:ext cx="128016" cy="128016"/>
          </a:xfrm>
          <a:prstGeom prst="ellipse">
            <a:avLst/>
          </a:prstGeom>
          <a:solidFill>
            <a:srgbClr val="EF4444"/>
          </a:solidFill>
          <a:ln w="12700">
            <a:solidFill>
              <a:srgbClr val="EF4444"/>
            </a:solidFill>
            <a:prstDash val="solid"/>
          </a:ln>
        </p:spPr>
        <p:txBody>
          <a:bodyPr/>
          <a:lstStyle/>
          <a:p>
            <a:endParaRPr lang="en-IN"/>
          </a:p>
        </p:txBody>
      </p:sp>
      <p:sp>
        <p:nvSpPr>
          <p:cNvPr id="6" name="Shape 4"/>
          <p:cNvSpPr/>
          <p:nvPr/>
        </p:nvSpPr>
        <p:spPr>
          <a:xfrm>
            <a:off x="896112" y="950976"/>
            <a:ext cx="128016" cy="128016"/>
          </a:xfrm>
          <a:prstGeom prst="ellipse">
            <a:avLst/>
          </a:prstGeom>
          <a:solidFill>
            <a:srgbClr val="F59E0B"/>
          </a:solidFill>
          <a:ln w="12700">
            <a:solidFill>
              <a:srgbClr val="F59E0B"/>
            </a:solidFill>
            <a:prstDash val="solid"/>
          </a:ln>
        </p:spPr>
        <p:txBody>
          <a:bodyPr/>
          <a:lstStyle/>
          <a:p>
            <a:endParaRPr lang="en-IN"/>
          </a:p>
        </p:txBody>
      </p:sp>
      <p:sp>
        <p:nvSpPr>
          <p:cNvPr id="7" name="Shape 5"/>
          <p:cNvSpPr/>
          <p:nvPr/>
        </p:nvSpPr>
        <p:spPr>
          <a:xfrm>
            <a:off x="1133856" y="950976"/>
            <a:ext cx="128016" cy="128016"/>
          </a:xfrm>
          <a:prstGeom prst="ellipse">
            <a:avLst/>
          </a:prstGeom>
          <a:solidFill>
            <a:srgbClr val="10B981"/>
          </a:solidFill>
          <a:ln w="12700">
            <a:solidFill>
              <a:srgbClr val="10B981"/>
            </a:solidFill>
            <a:prstDash val="solid"/>
          </a:ln>
        </p:spPr>
        <p:txBody>
          <a:bodyPr/>
          <a:lstStyle/>
          <a:p>
            <a:endParaRPr lang="en-IN"/>
          </a:p>
        </p:txBody>
      </p:sp>
      <p:sp>
        <p:nvSpPr>
          <p:cNvPr id="8" name="Text 6"/>
          <p:cNvSpPr/>
          <p:nvPr/>
        </p:nvSpPr>
        <p:spPr>
          <a:xfrm>
            <a:off x="594360" y="1207008"/>
            <a:ext cx="4114800" cy="274320"/>
          </a:xfrm>
          <a:prstGeom prst="rect">
            <a:avLst/>
          </a:prstGeom>
          <a:noFill/>
          <a:ln/>
        </p:spPr>
        <p:txBody>
          <a:bodyPr wrap="square" lIns="0" tIns="0" rIns="0" bIns="0" rtlCol="0" anchor="ctr"/>
          <a:lstStyle/>
          <a:p>
            <a:pPr marL="0" indent="0">
              <a:buNone/>
            </a:pPr>
            <a:r>
              <a:rPr lang="en-US" sz="1300" dirty="0">
                <a:solidFill>
                  <a:srgbClr val="90E0EF"/>
                </a:solidFill>
                <a:latin typeface="Consolas" pitchFamily="34" charset="0"/>
                <a:ea typeface="Consolas" pitchFamily="34" charset="-122"/>
                <a:cs typeface="Consolas" pitchFamily="34" charset="-120"/>
              </a:rPr>
              <a:t>asset-request-bot/</a:t>
            </a:r>
            <a:endParaRPr lang="en-US" sz="1300" dirty="0"/>
          </a:p>
        </p:txBody>
      </p:sp>
      <p:sp>
        <p:nvSpPr>
          <p:cNvPr id="9" name="Text 7"/>
          <p:cNvSpPr/>
          <p:nvPr/>
        </p:nvSpPr>
        <p:spPr>
          <a:xfrm>
            <a:off x="731520" y="1472184"/>
            <a:ext cx="4114800" cy="27432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bot.py</a:t>
            </a:r>
            <a:endParaRPr lang="en-US" sz="1300" dirty="0"/>
          </a:p>
        </p:txBody>
      </p:sp>
      <p:sp>
        <p:nvSpPr>
          <p:cNvPr id="10" name="Text 8"/>
          <p:cNvSpPr/>
          <p:nvPr/>
        </p:nvSpPr>
        <p:spPr>
          <a:xfrm>
            <a:off x="731520" y="1737360"/>
            <a:ext cx="4114800" cy="27432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agent.py</a:t>
            </a:r>
            <a:endParaRPr lang="en-US" sz="1300" dirty="0"/>
          </a:p>
        </p:txBody>
      </p:sp>
      <p:sp>
        <p:nvSpPr>
          <p:cNvPr id="11" name="Text 9"/>
          <p:cNvSpPr/>
          <p:nvPr/>
        </p:nvSpPr>
        <p:spPr>
          <a:xfrm>
            <a:off x="731520" y="2002536"/>
            <a:ext cx="4114800" cy="27432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validation.py</a:t>
            </a:r>
            <a:endParaRPr lang="en-US" sz="1300" dirty="0"/>
          </a:p>
        </p:txBody>
      </p:sp>
      <p:sp>
        <p:nvSpPr>
          <p:cNvPr id="12" name="Text 10"/>
          <p:cNvSpPr/>
          <p:nvPr/>
        </p:nvSpPr>
        <p:spPr>
          <a:xfrm>
            <a:off x="731520" y="2267712"/>
            <a:ext cx="4114800" cy="27432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 database.py</a:t>
            </a:r>
            <a:endParaRPr lang="en-US" sz="1300" dirty="0"/>
          </a:p>
        </p:txBody>
      </p:sp>
      <p:sp>
        <p:nvSpPr>
          <p:cNvPr id="13" name="Text 11"/>
          <p:cNvSpPr/>
          <p:nvPr/>
        </p:nvSpPr>
        <p:spPr>
          <a:xfrm>
            <a:off x="731520" y="2532888"/>
            <a:ext cx="4114800" cy="274320"/>
          </a:xfrm>
          <a:prstGeom prst="rect">
            <a:avLst/>
          </a:prstGeom>
          <a:noFill/>
          <a:ln/>
        </p:spPr>
        <p:txBody>
          <a:bodyPr wrap="square" lIns="0" tIns="0" rIns="0" bIns="0" rtlCol="0" anchor="ctr"/>
          <a:lstStyle/>
          <a:p>
            <a:pPr marL="0" indent="0">
              <a:buNone/>
            </a:pPr>
            <a:r>
              <a:rPr lang="en-US" sz="1300" dirty="0">
                <a:solidFill>
                  <a:srgbClr val="94A3B8"/>
                </a:solidFill>
                <a:latin typeface="Consolas" pitchFamily="34" charset="0"/>
                <a:ea typeface="Consolas" pitchFamily="34" charset="-122"/>
                <a:cs typeface="Consolas" pitchFamily="34" charset="-120"/>
              </a:rPr>
              <a:t>├── requirements.txt</a:t>
            </a:r>
            <a:endParaRPr lang="en-US" sz="1300" dirty="0"/>
          </a:p>
        </p:txBody>
      </p:sp>
      <p:sp>
        <p:nvSpPr>
          <p:cNvPr id="14" name="Text 12"/>
          <p:cNvSpPr/>
          <p:nvPr/>
        </p:nvSpPr>
        <p:spPr>
          <a:xfrm>
            <a:off x="731520" y="2798064"/>
            <a:ext cx="4114800" cy="274320"/>
          </a:xfrm>
          <a:prstGeom prst="rect">
            <a:avLst/>
          </a:prstGeom>
          <a:noFill/>
          <a:ln/>
        </p:spPr>
        <p:txBody>
          <a:bodyPr wrap="square" lIns="0" tIns="0" rIns="0" bIns="0" rtlCol="0" anchor="ctr"/>
          <a:lstStyle/>
          <a:p>
            <a:pPr marL="0" indent="0">
              <a:buNone/>
            </a:pPr>
            <a:r>
              <a:rPr lang="en-US" sz="1300" dirty="0">
                <a:solidFill>
                  <a:srgbClr val="90E0EF"/>
                </a:solidFill>
                <a:latin typeface="Consolas" pitchFamily="34" charset="0"/>
                <a:ea typeface="Consolas" pitchFamily="34" charset="-122"/>
                <a:cs typeface="Consolas" pitchFamily="34" charset="-120"/>
              </a:rPr>
              <a:t>├── data/</a:t>
            </a:r>
            <a:endParaRPr lang="en-US" sz="1300" dirty="0"/>
          </a:p>
        </p:txBody>
      </p:sp>
      <p:sp>
        <p:nvSpPr>
          <p:cNvPr id="15" name="Text 13"/>
          <p:cNvSpPr/>
          <p:nvPr/>
        </p:nvSpPr>
        <p:spPr>
          <a:xfrm>
            <a:off x="868680" y="3063240"/>
            <a:ext cx="4114800" cy="274320"/>
          </a:xfrm>
          <a:prstGeom prst="rect">
            <a:avLst/>
          </a:prstGeom>
          <a:noFill/>
          <a:ln/>
        </p:spPr>
        <p:txBody>
          <a:bodyPr wrap="square" lIns="0" tIns="0" rIns="0" bIns="0" rtlCol="0" anchor="ctr"/>
          <a:lstStyle/>
          <a:p>
            <a:pPr marL="0" indent="0">
              <a:buNone/>
            </a:pPr>
            <a:r>
              <a:rPr lang="en-US" sz="1300" dirty="0">
                <a:solidFill>
                  <a:srgbClr val="94A3B8"/>
                </a:solidFill>
                <a:latin typeface="Consolas" pitchFamily="34" charset="0"/>
                <a:ea typeface="Consolas" pitchFamily="34" charset="-122"/>
                <a:cs typeface="Consolas" pitchFamily="34" charset="-120"/>
              </a:rPr>
              <a:t>│   └── employees.json</a:t>
            </a:r>
            <a:endParaRPr lang="en-US" sz="1300" dirty="0"/>
          </a:p>
        </p:txBody>
      </p:sp>
      <p:sp>
        <p:nvSpPr>
          <p:cNvPr id="16" name="Text 14"/>
          <p:cNvSpPr/>
          <p:nvPr/>
        </p:nvSpPr>
        <p:spPr>
          <a:xfrm>
            <a:off x="731520" y="3328416"/>
            <a:ext cx="4114800" cy="274320"/>
          </a:xfrm>
          <a:prstGeom prst="rect">
            <a:avLst/>
          </a:prstGeom>
          <a:noFill/>
          <a:ln/>
        </p:spPr>
        <p:txBody>
          <a:bodyPr wrap="square" lIns="0" tIns="0" rIns="0" bIns="0" rtlCol="0" anchor="ctr"/>
          <a:lstStyle/>
          <a:p>
            <a:pPr marL="0" indent="0">
              <a:buNone/>
            </a:pPr>
            <a:r>
              <a:rPr lang="en-US" sz="1300" dirty="0">
                <a:solidFill>
                  <a:srgbClr val="90E0EF"/>
                </a:solidFill>
                <a:latin typeface="Consolas" pitchFamily="34" charset="0"/>
                <a:ea typeface="Consolas" pitchFamily="34" charset="-122"/>
                <a:cs typeface="Consolas" pitchFamily="34" charset="-120"/>
              </a:rPr>
              <a:t>└── db/</a:t>
            </a:r>
            <a:endParaRPr lang="en-US" sz="1300" dirty="0"/>
          </a:p>
        </p:txBody>
      </p:sp>
      <p:sp>
        <p:nvSpPr>
          <p:cNvPr id="17" name="Text 15"/>
          <p:cNvSpPr/>
          <p:nvPr/>
        </p:nvSpPr>
        <p:spPr>
          <a:xfrm>
            <a:off x="868680" y="3593592"/>
            <a:ext cx="4114800" cy="274320"/>
          </a:xfrm>
          <a:prstGeom prst="rect">
            <a:avLst/>
          </a:prstGeom>
          <a:noFill/>
          <a:ln/>
        </p:spPr>
        <p:txBody>
          <a:bodyPr wrap="square" lIns="0" tIns="0" rIns="0" bIns="0" rtlCol="0" anchor="ctr"/>
          <a:lstStyle/>
          <a:p>
            <a:pPr marL="0" indent="0">
              <a:buNone/>
            </a:pPr>
            <a:r>
              <a:rPr lang="en-US" sz="1300" dirty="0">
                <a:solidFill>
                  <a:srgbClr val="94A3B8"/>
                </a:solidFill>
                <a:latin typeface="Consolas" pitchFamily="34" charset="0"/>
                <a:ea typeface="Consolas" pitchFamily="34" charset="-122"/>
                <a:cs typeface="Consolas" pitchFamily="34" charset="-120"/>
              </a:rPr>
              <a:t>    └── asset_requests.db</a:t>
            </a:r>
            <a:endParaRPr lang="en-US" sz="1300" dirty="0"/>
          </a:p>
        </p:txBody>
      </p:sp>
      <p:sp>
        <p:nvSpPr>
          <p:cNvPr id="18" name="Shape 16"/>
          <p:cNvSpPr/>
          <p:nvPr/>
        </p:nvSpPr>
        <p:spPr>
          <a:xfrm>
            <a:off x="5120640" y="841248"/>
            <a:ext cx="3657600" cy="822960"/>
          </a:xfrm>
          <a:prstGeom prst="rect">
            <a:avLst/>
          </a:prstGeom>
          <a:solidFill>
            <a:srgbClr val="1E3A5F"/>
          </a:solidFill>
          <a:ln w="12700">
            <a:solidFill>
              <a:srgbClr val="00B4D8"/>
            </a:solidFill>
            <a:prstDash val="solid"/>
          </a:ln>
        </p:spPr>
        <p:txBody>
          <a:bodyPr/>
          <a:lstStyle/>
          <a:p>
            <a:endParaRPr lang="en-IN"/>
          </a:p>
        </p:txBody>
      </p:sp>
      <p:sp>
        <p:nvSpPr>
          <p:cNvPr id="19" name="Text 17"/>
          <p:cNvSpPr/>
          <p:nvPr/>
        </p:nvSpPr>
        <p:spPr>
          <a:xfrm>
            <a:off x="5230368" y="841248"/>
            <a:ext cx="502920" cy="8229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0" name="Text 18"/>
          <p:cNvSpPr/>
          <p:nvPr/>
        </p:nvSpPr>
        <p:spPr>
          <a:xfrm>
            <a:off x="5779008" y="914400"/>
            <a:ext cx="2880360" cy="256032"/>
          </a:xfrm>
          <a:prstGeom prst="rect">
            <a:avLst/>
          </a:prstGeom>
          <a:noFill/>
          <a:ln/>
        </p:spPr>
        <p:txBody>
          <a:bodyPr wrap="square" lIns="0" tIns="0" rIns="0" bIns="0" rtlCol="0" anchor="ctr"/>
          <a:lstStyle/>
          <a:p>
            <a:pPr marL="0" indent="0">
              <a:buNone/>
            </a:pPr>
            <a:r>
              <a:rPr lang="en-US" sz="1300" b="1" dirty="0">
                <a:solidFill>
                  <a:srgbClr val="90E0EF"/>
                </a:solidFill>
                <a:latin typeface="Consolas" pitchFamily="34" charset="0"/>
                <a:ea typeface="Consolas" pitchFamily="34" charset="-122"/>
                <a:cs typeface="Consolas" pitchFamily="34" charset="-120"/>
              </a:rPr>
              <a:t>bot.py</a:t>
            </a:r>
            <a:endParaRPr lang="en-US" sz="1300" dirty="0"/>
          </a:p>
        </p:txBody>
      </p:sp>
      <p:sp>
        <p:nvSpPr>
          <p:cNvPr id="21" name="Text 19"/>
          <p:cNvSpPr/>
          <p:nvPr/>
        </p:nvSpPr>
        <p:spPr>
          <a:xfrm>
            <a:off x="5779008" y="1188720"/>
            <a:ext cx="288036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Entry point. Handles /start and message routing</a:t>
            </a:r>
            <a:endParaRPr lang="en-US" sz="1100" dirty="0"/>
          </a:p>
        </p:txBody>
      </p:sp>
      <p:sp>
        <p:nvSpPr>
          <p:cNvPr id="22" name="Shape 20"/>
          <p:cNvSpPr/>
          <p:nvPr/>
        </p:nvSpPr>
        <p:spPr>
          <a:xfrm>
            <a:off x="5120640" y="1819656"/>
            <a:ext cx="3657600" cy="822960"/>
          </a:xfrm>
          <a:prstGeom prst="rect">
            <a:avLst/>
          </a:prstGeom>
          <a:solidFill>
            <a:srgbClr val="1E3A5F"/>
          </a:solidFill>
          <a:ln w="12700">
            <a:solidFill>
              <a:srgbClr val="00B4D8"/>
            </a:solidFill>
            <a:prstDash val="solid"/>
          </a:ln>
        </p:spPr>
        <p:txBody>
          <a:bodyPr/>
          <a:lstStyle/>
          <a:p>
            <a:endParaRPr lang="en-IN"/>
          </a:p>
        </p:txBody>
      </p:sp>
      <p:sp>
        <p:nvSpPr>
          <p:cNvPr id="23" name="Text 21"/>
          <p:cNvSpPr/>
          <p:nvPr/>
        </p:nvSpPr>
        <p:spPr>
          <a:xfrm>
            <a:off x="5230368" y="1819656"/>
            <a:ext cx="502920" cy="8229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5779008" y="1892808"/>
            <a:ext cx="2880360" cy="256032"/>
          </a:xfrm>
          <a:prstGeom prst="rect">
            <a:avLst/>
          </a:prstGeom>
          <a:noFill/>
          <a:ln/>
        </p:spPr>
        <p:txBody>
          <a:bodyPr wrap="square" lIns="0" tIns="0" rIns="0" bIns="0" rtlCol="0" anchor="ctr"/>
          <a:lstStyle/>
          <a:p>
            <a:pPr marL="0" indent="0">
              <a:buNone/>
            </a:pPr>
            <a:r>
              <a:rPr lang="en-US" sz="1300" b="1" dirty="0">
                <a:solidFill>
                  <a:srgbClr val="90E0EF"/>
                </a:solidFill>
                <a:latin typeface="Consolas" pitchFamily="34" charset="0"/>
                <a:ea typeface="Consolas" pitchFamily="34" charset="-122"/>
                <a:cs typeface="Consolas" pitchFamily="34" charset="-120"/>
              </a:rPr>
              <a:t>agent.py</a:t>
            </a:r>
            <a:endParaRPr lang="en-US" sz="1300" dirty="0"/>
          </a:p>
        </p:txBody>
      </p:sp>
      <p:sp>
        <p:nvSpPr>
          <p:cNvPr id="25" name="Text 23"/>
          <p:cNvSpPr/>
          <p:nvPr/>
        </p:nvSpPr>
        <p:spPr>
          <a:xfrm>
            <a:off x="5779008" y="2167128"/>
            <a:ext cx="288036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Manages conversation flow &amp; slot filling</a:t>
            </a:r>
            <a:endParaRPr lang="en-US" sz="1100" dirty="0"/>
          </a:p>
        </p:txBody>
      </p:sp>
      <p:sp>
        <p:nvSpPr>
          <p:cNvPr id="26" name="Shape 24"/>
          <p:cNvSpPr/>
          <p:nvPr/>
        </p:nvSpPr>
        <p:spPr>
          <a:xfrm>
            <a:off x="5120640" y="2798064"/>
            <a:ext cx="3657600" cy="822960"/>
          </a:xfrm>
          <a:prstGeom prst="rect">
            <a:avLst/>
          </a:prstGeom>
          <a:solidFill>
            <a:srgbClr val="1E3A5F"/>
          </a:solidFill>
          <a:ln w="12700">
            <a:solidFill>
              <a:srgbClr val="00B4D8"/>
            </a:solidFill>
            <a:prstDash val="solid"/>
          </a:ln>
        </p:spPr>
        <p:txBody>
          <a:bodyPr/>
          <a:lstStyle/>
          <a:p>
            <a:endParaRPr lang="en-IN"/>
          </a:p>
        </p:txBody>
      </p:sp>
      <p:sp>
        <p:nvSpPr>
          <p:cNvPr id="27" name="Text 25"/>
          <p:cNvSpPr/>
          <p:nvPr/>
        </p:nvSpPr>
        <p:spPr>
          <a:xfrm>
            <a:off x="5230368" y="2798064"/>
            <a:ext cx="502920" cy="8229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8" name="Text 26"/>
          <p:cNvSpPr/>
          <p:nvPr/>
        </p:nvSpPr>
        <p:spPr>
          <a:xfrm>
            <a:off x="5779008" y="2871216"/>
            <a:ext cx="2880360" cy="256032"/>
          </a:xfrm>
          <a:prstGeom prst="rect">
            <a:avLst/>
          </a:prstGeom>
          <a:noFill/>
          <a:ln/>
        </p:spPr>
        <p:txBody>
          <a:bodyPr wrap="square" lIns="0" tIns="0" rIns="0" bIns="0" rtlCol="0" anchor="ctr"/>
          <a:lstStyle/>
          <a:p>
            <a:pPr marL="0" indent="0">
              <a:buNone/>
            </a:pPr>
            <a:r>
              <a:rPr lang="en-US" sz="1300" b="1" dirty="0">
                <a:solidFill>
                  <a:srgbClr val="90E0EF"/>
                </a:solidFill>
                <a:latin typeface="Consolas" pitchFamily="34" charset="0"/>
                <a:ea typeface="Consolas" pitchFamily="34" charset="-122"/>
                <a:cs typeface="Consolas" pitchFamily="34" charset="-120"/>
              </a:rPr>
              <a:t>validation.py</a:t>
            </a:r>
            <a:endParaRPr lang="en-US" sz="1300" dirty="0"/>
          </a:p>
        </p:txBody>
      </p:sp>
      <p:sp>
        <p:nvSpPr>
          <p:cNvPr id="29" name="Text 27"/>
          <p:cNvSpPr/>
          <p:nvPr/>
        </p:nvSpPr>
        <p:spPr>
          <a:xfrm>
            <a:off x="5779008" y="3145536"/>
            <a:ext cx="288036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Checks employee against HRIS JSON</a:t>
            </a:r>
            <a:endParaRPr lang="en-US" sz="1100" dirty="0"/>
          </a:p>
        </p:txBody>
      </p:sp>
      <p:sp>
        <p:nvSpPr>
          <p:cNvPr id="30" name="Shape 28"/>
          <p:cNvSpPr/>
          <p:nvPr/>
        </p:nvSpPr>
        <p:spPr>
          <a:xfrm>
            <a:off x="5120640" y="3776472"/>
            <a:ext cx="3657600" cy="822960"/>
          </a:xfrm>
          <a:prstGeom prst="rect">
            <a:avLst/>
          </a:prstGeom>
          <a:solidFill>
            <a:srgbClr val="1E3A5F"/>
          </a:solidFill>
          <a:ln w="12700">
            <a:solidFill>
              <a:srgbClr val="00B4D8"/>
            </a:solidFill>
            <a:prstDash val="solid"/>
          </a:ln>
        </p:spPr>
        <p:txBody>
          <a:bodyPr/>
          <a:lstStyle/>
          <a:p>
            <a:endParaRPr lang="en-IN"/>
          </a:p>
        </p:txBody>
      </p:sp>
      <p:sp>
        <p:nvSpPr>
          <p:cNvPr id="31" name="Text 29"/>
          <p:cNvSpPr/>
          <p:nvPr/>
        </p:nvSpPr>
        <p:spPr>
          <a:xfrm>
            <a:off x="5230368" y="3776472"/>
            <a:ext cx="502920" cy="82296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779008" y="3849624"/>
            <a:ext cx="2880360" cy="256032"/>
          </a:xfrm>
          <a:prstGeom prst="rect">
            <a:avLst/>
          </a:prstGeom>
          <a:noFill/>
          <a:ln/>
        </p:spPr>
        <p:txBody>
          <a:bodyPr wrap="square" lIns="0" tIns="0" rIns="0" bIns="0" rtlCol="0" anchor="ctr"/>
          <a:lstStyle/>
          <a:p>
            <a:pPr marL="0" indent="0">
              <a:buNone/>
            </a:pPr>
            <a:r>
              <a:rPr lang="en-US" sz="1300" b="1" dirty="0">
                <a:solidFill>
                  <a:srgbClr val="90E0EF"/>
                </a:solidFill>
                <a:latin typeface="Consolas" pitchFamily="34" charset="0"/>
                <a:ea typeface="Consolas" pitchFamily="34" charset="-122"/>
                <a:cs typeface="Consolas" pitchFamily="34" charset="-120"/>
              </a:rPr>
              <a:t>database.py</a:t>
            </a:r>
            <a:endParaRPr lang="en-US" sz="1300" dirty="0"/>
          </a:p>
        </p:txBody>
      </p:sp>
      <p:sp>
        <p:nvSpPr>
          <p:cNvPr id="33" name="Text 31"/>
          <p:cNvSpPr/>
          <p:nvPr/>
        </p:nvSpPr>
        <p:spPr>
          <a:xfrm>
            <a:off x="5779008" y="4123944"/>
            <a:ext cx="2880360" cy="38404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Handles all SQLite read/write operations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HRIS Validation</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65760" y="868680"/>
            <a:ext cx="4572000" cy="3931920"/>
          </a:xfrm>
          <a:prstGeom prst="rect">
            <a:avLst/>
          </a:prstGeom>
          <a:solidFill>
            <a:srgbClr val="111827"/>
          </a:solidFill>
          <a:ln w="12700">
            <a:solidFill>
              <a:srgbClr val="00B4D8"/>
            </a:solidFill>
            <a:prstDash val="solid"/>
          </a:ln>
        </p:spPr>
        <p:txBody>
          <a:bodyPr/>
          <a:lstStyle/>
          <a:p>
            <a:endParaRPr lang="en-IN"/>
          </a:p>
        </p:txBody>
      </p:sp>
      <p:sp>
        <p:nvSpPr>
          <p:cNvPr id="6" name="Shape 4"/>
          <p:cNvSpPr/>
          <p:nvPr/>
        </p:nvSpPr>
        <p:spPr>
          <a:xfrm>
            <a:off x="548640" y="987552"/>
            <a:ext cx="128016" cy="128016"/>
          </a:xfrm>
          <a:prstGeom prst="ellipse">
            <a:avLst/>
          </a:prstGeom>
          <a:solidFill>
            <a:srgbClr val="EF4444"/>
          </a:solidFill>
          <a:ln w="12700">
            <a:solidFill>
              <a:srgbClr val="EF4444"/>
            </a:solidFill>
            <a:prstDash val="solid"/>
          </a:ln>
        </p:spPr>
        <p:txBody>
          <a:bodyPr/>
          <a:lstStyle/>
          <a:p>
            <a:endParaRPr lang="en-IN"/>
          </a:p>
        </p:txBody>
      </p:sp>
      <p:sp>
        <p:nvSpPr>
          <p:cNvPr id="7" name="Shape 5"/>
          <p:cNvSpPr/>
          <p:nvPr/>
        </p:nvSpPr>
        <p:spPr>
          <a:xfrm>
            <a:off x="786384" y="987552"/>
            <a:ext cx="128016" cy="128016"/>
          </a:xfrm>
          <a:prstGeom prst="ellipse">
            <a:avLst/>
          </a:prstGeom>
          <a:solidFill>
            <a:srgbClr val="F59E0B"/>
          </a:solidFill>
          <a:ln w="12700">
            <a:solidFill>
              <a:srgbClr val="F59E0B"/>
            </a:solidFill>
            <a:prstDash val="solid"/>
          </a:ln>
        </p:spPr>
        <p:txBody>
          <a:bodyPr/>
          <a:lstStyle/>
          <a:p>
            <a:endParaRPr lang="en-IN"/>
          </a:p>
        </p:txBody>
      </p:sp>
      <p:sp>
        <p:nvSpPr>
          <p:cNvPr id="8" name="Shape 6"/>
          <p:cNvSpPr/>
          <p:nvPr/>
        </p:nvSpPr>
        <p:spPr>
          <a:xfrm>
            <a:off x="1024128" y="987552"/>
            <a:ext cx="128016" cy="128016"/>
          </a:xfrm>
          <a:prstGeom prst="ellipse">
            <a:avLst/>
          </a:prstGeom>
          <a:solidFill>
            <a:srgbClr val="10B981"/>
          </a:solidFill>
          <a:ln w="12700">
            <a:solidFill>
              <a:srgbClr val="10B981"/>
            </a:solidFill>
            <a:prstDash val="solid"/>
          </a:ln>
        </p:spPr>
        <p:txBody>
          <a:bodyPr/>
          <a:lstStyle/>
          <a:p>
            <a:endParaRPr lang="en-IN"/>
          </a:p>
        </p:txBody>
      </p:sp>
      <p:sp>
        <p:nvSpPr>
          <p:cNvPr id="9" name="Text 7"/>
          <p:cNvSpPr/>
          <p:nvPr/>
        </p:nvSpPr>
        <p:spPr>
          <a:xfrm>
            <a:off x="502920" y="1261872"/>
            <a:ext cx="425196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502920" y="1700784"/>
            <a:ext cx="4251960" cy="41148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"employee_id":</a:t>
            </a:r>
            <a:r>
              <a:rPr lang="en-US" sz="1300" dirty="0">
                <a:solidFill>
                  <a:srgbClr val="86EFAC"/>
                </a:solidFill>
                <a:latin typeface="Consolas" pitchFamily="34" charset="0"/>
                <a:ea typeface="Consolas" pitchFamily="34" charset="-122"/>
                <a:cs typeface="Consolas" pitchFamily="34" charset="-120"/>
              </a:rPr>
              <a:t> "EMP1001",</a:t>
            </a:r>
            <a:endParaRPr lang="en-US" sz="1300" dirty="0"/>
          </a:p>
        </p:txBody>
      </p:sp>
      <p:sp>
        <p:nvSpPr>
          <p:cNvPr id="11" name="Text 9"/>
          <p:cNvSpPr/>
          <p:nvPr/>
        </p:nvSpPr>
        <p:spPr>
          <a:xfrm>
            <a:off x="502920" y="2139696"/>
            <a:ext cx="4251960" cy="41148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"name":</a:t>
            </a:r>
            <a:r>
              <a:rPr lang="en-US" sz="1300" dirty="0">
                <a:solidFill>
                  <a:srgbClr val="86EFAC"/>
                </a:solidFill>
                <a:latin typeface="Consolas" pitchFamily="34" charset="0"/>
                <a:ea typeface="Consolas" pitchFamily="34" charset="-122"/>
                <a:cs typeface="Consolas" pitchFamily="34" charset="-120"/>
              </a:rPr>
              <a:t> "John Doe",</a:t>
            </a:r>
            <a:endParaRPr lang="en-US" sz="1300" dirty="0"/>
          </a:p>
        </p:txBody>
      </p:sp>
      <p:sp>
        <p:nvSpPr>
          <p:cNvPr id="12" name="Text 10"/>
          <p:cNvSpPr/>
          <p:nvPr/>
        </p:nvSpPr>
        <p:spPr>
          <a:xfrm>
            <a:off x="502920" y="2578608"/>
            <a:ext cx="4251960" cy="41148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"role":</a:t>
            </a:r>
            <a:r>
              <a:rPr lang="en-US" sz="1300" dirty="0">
                <a:solidFill>
                  <a:srgbClr val="86EFAC"/>
                </a:solidFill>
                <a:latin typeface="Consolas" pitchFamily="34" charset="0"/>
                <a:ea typeface="Consolas" pitchFamily="34" charset="-122"/>
                <a:cs typeface="Consolas" pitchFamily="34" charset="-120"/>
              </a:rPr>
              <a:t> "Software Engineer",</a:t>
            </a:r>
            <a:endParaRPr lang="en-US" sz="1300" dirty="0"/>
          </a:p>
        </p:txBody>
      </p:sp>
      <p:sp>
        <p:nvSpPr>
          <p:cNvPr id="13" name="Text 11"/>
          <p:cNvSpPr/>
          <p:nvPr/>
        </p:nvSpPr>
        <p:spPr>
          <a:xfrm>
            <a:off x="502920" y="3017520"/>
            <a:ext cx="4251960" cy="41148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"grade":</a:t>
            </a:r>
            <a:r>
              <a:rPr lang="en-US" sz="1300" dirty="0">
                <a:solidFill>
                  <a:srgbClr val="86EFAC"/>
                </a:solidFill>
                <a:latin typeface="Consolas" pitchFamily="34" charset="0"/>
                <a:ea typeface="Consolas" pitchFamily="34" charset="-122"/>
                <a:cs typeface="Consolas" pitchFamily="34" charset="-120"/>
              </a:rPr>
              <a:t> "G5",</a:t>
            </a:r>
            <a:endParaRPr lang="en-US" sz="1300" dirty="0"/>
          </a:p>
        </p:txBody>
      </p:sp>
      <p:sp>
        <p:nvSpPr>
          <p:cNvPr id="14" name="Text 12"/>
          <p:cNvSpPr/>
          <p:nvPr/>
        </p:nvSpPr>
        <p:spPr>
          <a:xfrm>
            <a:off x="502920" y="3456432"/>
            <a:ext cx="4251960" cy="41148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"department":</a:t>
            </a:r>
            <a:r>
              <a:rPr lang="en-US" sz="1300" dirty="0">
                <a:solidFill>
                  <a:srgbClr val="86EFAC"/>
                </a:solidFill>
                <a:latin typeface="Consolas" pitchFamily="34" charset="0"/>
                <a:ea typeface="Consolas" pitchFamily="34" charset="-122"/>
                <a:cs typeface="Consolas" pitchFamily="34" charset="-120"/>
              </a:rPr>
              <a:t> "Engineering"</a:t>
            </a:r>
            <a:endParaRPr lang="en-US" sz="1300" dirty="0"/>
          </a:p>
        </p:txBody>
      </p:sp>
      <p:sp>
        <p:nvSpPr>
          <p:cNvPr id="15" name="Text 13"/>
          <p:cNvSpPr/>
          <p:nvPr/>
        </p:nvSpPr>
        <p:spPr>
          <a:xfrm>
            <a:off x="502920" y="3895344"/>
            <a:ext cx="425196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6" name="Shape 14"/>
          <p:cNvSpPr/>
          <p:nvPr/>
        </p:nvSpPr>
        <p:spPr>
          <a:xfrm>
            <a:off x="5212080" y="868680"/>
            <a:ext cx="3566160" cy="3931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7" name="Text 15"/>
          <p:cNvSpPr/>
          <p:nvPr/>
        </p:nvSpPr>
        <p:spPr>
          <a:xfrm>
            <a:off x="5212080" y="914400"/>
            <a:ext cx="3566160" cy="411480"/>
          </a:xfrm>
          <a:prstGeom prst="rect">
            <a:avLst/>
          </a:prstGeom>
          <a:noFill/>
          <a:ln/>
        </p:spPr>
        <p:txBody>
          <a:bodyPr wrap="square" lIns="0" tIns="0" rIns="0" bIns="0" rtlCol="0" anchor="ctr"/>
          <a:lstStyle/>
          <a:p>
            <a:pPr marL="0" indent="0" algn="ctr">
              <a:buNone/>
            </a:pPr>
            <a:r>
              <a:rPr lang="en-US" sz="1500" b="1" dirty="0">
                <a:solidFill>
                  <a:srgbClr val="0D1B2A"/>
                </a:solidFill>
                <a:latin typeface="Trebuchet MS" pitchFamily="34" charset="0"/>
                <a:ea typeface="Trebuchet MS" pitchFamily="34" charset="-122"/>
                <a:cs typeface="Trebuchet MS" pitchFamily="34" charset="-120"/>
              </a:rPr>
              <a:t>Validation Steps</a:t>
            </a:r>
            <a:endParaRPr lang="en-US" sz="1500" dirty="0"/>
          </a:p>
        </p:txBody>
      </p:sp>
      <p:sp>
        <p:nvSpPr>
          <p:cNvPr id="18" name="Shape 16"/>
          <p:cNvSpPr/>
          <p:nvPr/>
        </p:nvSpPr>
        <p:spPr>
          <a:xfrm>
            <a:off x="5394960" y="1508760"/>
            <a:ext cx="411480" cy="411480"/>
          </a:xfrm>
          <a:prstGeom prst="ellipse">
            <a:avLst/>
          </a:prstGeom>
          <a:solidFill>
            <a:srgbClr val="00B4D8"/>
          </a:solidFill>
          <a:ln w="12700">
            <a:solidFill>
              <a:srgbClr val="00B4D8"/>
            </a:solidFill>
            <a:prstDash val="solid"/>
          </a:ln>
        </p:spPr>
        <p:txBody>
          <a:bodyPr/>
          <a:lstStyle/>
          <a:p>
            <a:endParaRPr lang="en-IN"/>
          </a:p>
        </p:txBody>
      </p:sp>
      <p:sp>
        <p:nvSpPr>
          <p:cNvPr id="19" name="Text 17"/>
          <p:cNvSpPr/>
          <p:nvPr/>
        </p:nvSpPr>
        <p:spPr>
          <a:xfrm>
            <a:off x="5394960" y="15087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0" name="Text 18"/>
          <p:cNvSpPr/>
          <p:nvPr/>
        </p:nvSpPr>
        <p:spPr>
          <a:xfrm>
            <a:off x="5897880" y="1508760"/>
            <a:ext cx="274320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Employee Exists</a:t>
            </a:r>
            <a:endParaRPr lang="en-US" sz="1300" dirty="0"/>
          </a:p>
        </p:txBody>
      </p:sp>
      <p:sp>
        <p:nvSpPr>
          <p:cNvPr id="21" name="Text 19"/>
          <p:cNvSpPr/>
          <p:nvPr/>
        </p:nvSpPr>
        <p:spPr>
          <a:xfrm>
            <a:off x="5897880" y="1783080"/>
            <a:ext cx="2743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Check if ID is in employees.json</a:t>
            </a:r>
            <a:endParaRPr lang="en-US" sz="1200" dirty="0"/>
          </a:p>
        </p:txBody>
      </p:sp>
      <p:sp>
        <p:nvSpPr>
          <p:cNvPr id="22" name="Shape 20"/>
          <p:cNvSpPr/>
          <p:nvPr/>
        </p:nvSpPr>
        <p:spPr>
          <a:xfrm>
            <a:off x="5577840" y="1920240"/>
            <a:ext cx="45720" cy="640080"/>
          </a:xfrm>
          <a:prstGeom prst="rect">
            <a:avLst/>
          </a:prstGeom>
          <a:solidFill>
            <a:srgbClr val="90E0EF"/>
          </a:solidFill>
          <a:ln w="12700">
            <a:solidFill>
              <a:srgbClr val="90E0EF"/>
            </a:solidFill>
            <a:prstDash val="solid"/>
          </a:ln>
        </p:spPr>
        <p:txBody>
          <a:bodyPr/>
          <a:lstStyle/>
          <a:p>
            <a:endParaRPr lang="en-IN"/>
          </a:p>
        </p:txBody>
      </p:sp>
      <p:sp>
        <p:nvSpPr>
          <p:cNvPr id="23" name="Shape 21"/>
          <p:cNvSpPr/>
          <p:nvPr/>
        </p:nvSpPr>
        <p:spPr>
          <a:xfrm>
            <a:off x="5394960" y="2560320"/>
            <a:ext cx="411480" cy="411480"/>
          </a:xfrm>
          <a:prstGeom prst="ellipse">
            <a:avLst/>
          </a:prstGeom>
          <a:solidFill>
            <a:srgbClr val="00B4D8"/>
          </a:solidFill>
          <a:ln w="12700">
            <a:solidFill>
              <a:srgbClr val="00B4D8"/>
            </a:solidFill>
            <a:prstDash val="solid"/>
          </a:ln>
        </p:spPr>
        <p:txBody>
          <a:bodyPr/>
          <a:lstStyle/>
          <a:p>
            <a:endParaRPr lang="en-IN"/>
          </a:p>
        </p:txBody>
      </p:sp>
      <p:sp>
        <p:nvSpPr>
          <p:cNvPr id="24" name="Text 22"/>
          <p:cNvSpPr/>
          <p:nvPr/>
        </p:nvSpPr>
        <p:spPr>
          <a:xfrm>
            <a:off x="5394960" y="2560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5" name="Text 23"/>
          <p:cNvSpPr/>
          <p:nvPr/>
        </p:nvSpPr>
        <p:spPr>
          <a:xfrm>
            <a:off x="5897880" y="2560320"/>
            <a:ext cx="274320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Valid Employee ID</a:t>
            </a:r>
            <a:endParaRPr lang="en-US" sz="1300" dirty="0"/>
          </a:p>
        </p:txBody>
      </p:sp>
      <p:sp>
        <p:nvSpPr>
          <p:cNvPr id="26" name="Text 24"/>
          <p:cNvSpPr/>
          <p:nvPr/>
        </p:nvSpPr>
        <p:spPr>
          <a:xfrm>
            <a:off x="5897880" y="2834640"/>
            <a:ext cx="2743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Format and prefix validation</a:t>
            </a:r>
            <a:endParaRPr lang="en-US" sz="1200" dirty="0"/>
          </a:p>
        </p:txBody>
      </p:sp>
      <p:sp>
        <p:nvSpPr>
          <p:cNvPr id="27" name="Shape 25"/>
          <p:cNvSpPr/>
          <p:nvPr/>
        </p:nvSpPr>
        <p:spPr>
          <a:xfrm>
            <a:off x="5577840" y="2971800"/>
            <a:ext cx="45720" cy="640080"/>
          </a:xfrm>
          <a:prstGeom prst="rect">
            <a:avLst/>
          </a:prstGeom>
          <a:solidFill>
            <a:srgbClr val="90E0EF"/>
          </a:solidFill>
          <a:ln w="12700">
            <a:solidFill>
              <a:srgbClr val="90E0EF"/>
            </a:solidFill>
            <a:prstDash val="solid"/>
          </a:ln>
        </p:spPr>
        <p:txBody>
          <a:bodyPr/>
          <a:lstStyle/>
          <a:p>
            <a:endParaRPr lang="en-IN"/>
          </a:p>
        </p:txBody>
      </p:sp>
      <p:sp>
        <p:nvSpPr>
          <p:cNvPr id="28" name="Shape 26"/>
          <p:cNvSpPr/>
          <p:nvPr/>
        </p:nvSpPr>
        <p:spPr>
          <a:xfrm>
            <a:off x="5394960" y="3611880"/>
            <a:ext cx="411480" cy="411480"/>
          </a:xfrm>
          <a:prstGeom prst="ellipse">
            <a:avLst/>
          </a:prstGeom>
          <a:solidFill>
            <a:srgbClr val="00B4D8"/>
          </a:solidFill>
          <a:ln w="12700">
            <a:solidFill>
              <a:srgbClr val="00B4D8"/>
            </a:solidFill>
            <a:prstDash val="solid"/>
          </a:ln>
        </p:spPr>
        <p:txBody>
          <a:bodyPr/>
          <a:lstStyle/>
          <a:p>
            <a:endParaRPr lang="en-IN"/>
          </a:p>
        </p:txBody>
      </p:sp>
      <p:sp>
        <p:nvSpPr>
          <p:cNvPr id="29" name="Text 27"/>
          <p:cNvSpPr/>
          <p:nvPr/>
        </p:nvSpPr>
        <p:spPr>
          <a:xfrm>
            <a:off x="5394960" y="36118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30" name="Text 28"/>
          <p:cNvSpPr/>
          <p:nvPr/>
        </p:nvSpPr>
        <p:spPr>
          <a:xfrm>
            <a:off x="5897880" y="3611880"/>
            <a:ext cx="274320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Fetch Details</a:t>
            </a:r>
            <a:endParaRPr lang="en-US" sz="1300" dirty="0"/>
          </a:p>
        </p:txBody>
      </p:sp>
      <p:sp>
        <p:nvSpPr>
          <p:cNvPr id="31" name="Text 29"/>
          <p:cNvSpPr/>
          <p:nvPr/>
        </p:nvSpPr>
        <p:spPr>
          <a:xfrm>
            <a:off x="5897880" y="3886200"/>
            <a:ext cx="2743200" cy="438912"/>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Retrieve name, role, grade, department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Slot Filling Conversation</a:t>
            </a:r>
            <a:endParaRPr lang="en-US" sz="2400" dirty="0"/>
          </a:p>
        </p:txBody>
      </p:sp>
      <p:sp>
        <p:nvSpPr>
          <p:cNvPr id="4" name="Shape 2"/>
          <p:cNvSpPr/>
          <p:nvPr/>
        </p:nvSpPr>
        <p:spPr>
          <a:xfrm>
            <a:off x="548640" y="777240"/>
            <a:ext cx="3200400" cy="4160520"/>
          </a:xfrm>
          <a:prstGeom prst="roundRect">
            <a:avLst>
              <a:gd name="adj" fmla="val 7143"/>
            </a:avLst>
          </a:prstGeom>
          <a:solidFill>
            <a:srgbClr val="1E293B"/>
          </a:solidFill>
          <a:ln w="25400">
            <a:solidFill>
              <a:srgbClr val="00B4D8"/>
            </a:solidFill>
            <a:prstDash val="solid"/>
          </a:ln>
        </p:spPr>
        <p:txBody>
          <a:bodyPr/>
          <a:lstStyle/>
          <a:p>
            <a:endParaRPr lang="en-IN"/>
          </a:p>
        </p:txBody>
      </p:sp>
      <p:sp>
        <p:nvSpPr>
          <p:cNvPr id="5" name="Shape 3"/>
          <p:cNvSpPr/>
          <p:nvPr/>
        </p:nvSpPr>
        <p:spPr>
          <a:xfrm>
            <a:off x="1508760" y="841248"/>
            <a:ext cx="1280160" cy="109728"/>
          </a:xfrm>
          <a:prstGeom prst="rect">
            <a:avLst/>
          </a:prstGeom>
          <a:solidFill>
            <a:srgbClr val="334155"/>
          </a:solidFill>
          <a:ln w="12700">
            <a:solidFill>
              <a:srgbClr val="334155"/>
            </a:solidFill>
            <a:prstDash val="solid"/>
          </a:ln>
        </p:spPr>
        <p:txBody>
          <a:bodyPr/>
          <a:lstStyle/>
          <a:p>
            <a:endParaRPr lang="en-IN"/>
          </a:p>
        </p:txBody>
      </p:sp>
      <p:sp>
        <p:nvSpPr>
          <p:cNvPr id="6" name="Shape 4"/>
          <p:cNvSpPr/>
          <p:nvPr/>
        </p:nvSpPr>
        <p:spPr>
          <a:xfrm>
            <a:off x="2103120" y="1097280"/>
            <a:ext cx="1554480" cy="347472"/>
          </a:xfrm>
          <a:prstGeom prst="roundRect">
            <a:avLst>
              <a:gd name="adj" fmla="val 21053"/>
            </a:avLst>
          </a:prstGeom>
          <a:solidFill>
            <a:srgbClr val="334155"/>
          </a:solidFill>
          <a:ln w="12700">
            <a:solidFill>
              <a:srgbClr val="334155"/>
            </a:solidFill>
            <a:prstDash val="solid"/>
          </a:ln>
        </p:spPr>
        <p:txBody>
          <a:bodyPr/>
          <a:lstStyle/>
          <a:p>
            <a:endParaRPr lang="en-IN"/>
          </a:p>
        </p:txBody>
      </p:sp>
      <p:sp>
        <p:nvSpPr>
          <p:cNvPr id="7" name="Text 5"/>
          <p:cNvSpPr/>
          <p:nvPr/>
        </p:nvSpPr>
        <p:spPr>
          <a:xfrm>
            <a:off x="2176272" y="1097280"/>
            <a:ext cx="1408176" cy="347472"/>
          </a:xfrm>
          <a:prstGeom prst="rect">
            <a:avLst/>
          </a:prstGeom>
          <a:noFill/>
          <a:ln/>
        </p:spPr>
        <p:txBody>
          <a:bodyPr wrap="square" lIns="0" tIns="0" rIns="0" bIns="0" rtlCol="0" anchor="ctr"/>
          <a:lstStyle/>
          <a:p>
            <a:pPr marL="0" indent="0" algn="r">
              <a:buNone/>
            </a:pPr>
            <a:r>
              <a:rPr lang="en-US" sz="950" dirty="0">
                <a:solidFill>
                  <a:srgbClr val="FFFFFF"/>
                </a:solidFill>
                <a:latin typeface="Calibri" pitchFamily="34" charset="0"/>
                <a:ea typeface="Calibri" pitchFamily="34" charset="-122"/>
                <a:cs typeface="Calibri" pitchFamily="34" charset="-120"/>
              </a:rPr>
              <a:t>/start</a:t>
            </a:r>
            <a:endParaRPr lang="en-US" sz="950" dirty="0"/>
          </a:p>
        </p:txBody>
      </p:sp>
      <p:sp>
        <p:nvSpPr>
          <p:cNvPr id="8" name="Shape 6"/>
          <p:cNvSpPr/>
          <p:nvPr/>
        </p:nvSpPr>
        <p:spPr>
          <a:xfrm>
            <a:off x="685800" y="1508760"/>
            <a:ext cx="1554480" cy="347472"/>
          </a:xfrm>
          <a:prstGeom prst="roundRect">
            <a:avLst>
              <a:gd name="adj" fmla="val 21053"/>
            </a:avLst>
          </a:prstGeom>
          <a:solidFill>
            <a:srgbClr val="0077B6"/>
          </a:solidFill>
          <a:ln w="12700">
            <a:solidFill>
              <a:srgbClr val="0077B6"/>
            </a:solidFill>
            <a:prstDash val="solid"/>
          </a:ln>
        </p:spPr>
        <p:txBody>
          <a:bodyPr/>
          <a:lstStyle/>
          <a:p>
            <a:endParaRPr lang="en-IN"/>
          </a:p>
        </p:txBody>
      </p:sp>
      <p:sp>
        <p:nvSpPr>
          <p:cNvPr id="9" name="Text 7"/>
          <p:cNvSpPr/>
          <p:nvPr/>
        </p:nvSpPr>
        <p:spPr>
          <a:xfrm>
            <a:off x="758952" y="1508760"/>
            <a:ext cx="1408176" cy="34747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 Welcome! Please enter your Employee ID:</a:t>
            </a:r>
            <a:endParaRPr lang="en-US" sz="950" dirty="0"/>
          </a:p>
        </p:txBody>
      </p:sp>
      <p:sp>
        <p:nvSpPr>
          <p:cNvPr id="10" name="Shape 8"/>
          <p:cNvSpPr/>
          <p:nvPr/>
        </p:nvSpPr>
        <p:spPr>
          <a:xfrm>
            <a:off x="2103120" y="2057400"/>
            <a:ext cx="1554480" cy="347472"/>
          </a:xfrm>
          <a:prstGeom prst="roundRect">
            <a:avLst>
              <a:gd name="adj" fmla="val 21053"/>
            </a:avLst>
          </a:prstGeom>
          <a:solidFill>
            <a:srgbClr val="334155"/>
          </a:solidFill>
          <a:ln w="12700">
            <a:solidFill>
              <a:srgbClr val="334155"/>
            </a:solidFill>
            <a:prstDash val="solid"/>
          </a:ln>
        </p:spPr>
        <p:txBody>
          <a:bodyPr/>
          <a:lstStyle/>
          <a:p>
            <a:endParaRPr lang="en-IN"/>
          </a:p>
        </p:txBody>
      </p:sp>
      <p:sp>
        <p:nvSpPr>
          <p:cNvPr id="11" name="Text 9"/>
          <p:cNvSpPr/>
          <p:nvPr/>
        </p:nvSpPr>
        <p:spPr>
          <a:xfrm>
            <a:off x="2176272" y="2057400"/>
            <a:ext cx="1408176" cy="347472"/>
          </a:xfrm>
          <a:prstGeom prst="rect">
            <a:avLst/>
          </a:prstGeom>
          <a:noFill/>
          <a:ln/>
        </p:spPr>
        <p:txBody>
          <a:bodyPr wrap="square" lIns="0" tIns="0" rIns="0" bIns="0" rtlCol="0" anchor="ctr"/>
          <a:lstStyle/>
          <a:p>
            <a:pPr marL="0" indent="0" algn="r">
              <a:buNone/>
            </a:pPr>
            <a:r>
              <a:rPr lang="en-US" sz="950" dirty="0">
                <a:solidFill>
                  <a:srgbClr val="FFFFFF"/>
                </a:solidFill>
                <a:latin typeface="Calibri" pitchFamily="34" charset="0"/>
                <a:ea typeface="Calibri" pitchFamily="34" charset="-122"/>
                <a:cs typeface="Calibri" pitchFamily="34" charset="-120"/>
              </a:rPr>
              <a:t>EMP1001</a:t>
            </a:r>
            <a:endParaRPr lang="en-US" sz="950" dirty="0"/>
          </a:p>
        </p:txBody>
      </p:sp>
      <p:sp>
        <p:nvSpPr>
          <p:cNvPr id="12" name="Shape 10"/>
          <p:cNvSpPr/>
          <p:nvPr/>
        </p:nvSpPr>
        <p:spPr>
          <a:xfrm>
            <a:off x="685800" y="2468880"/>
            <a:ext cx="1554480" cy="347472"/>
          </a:xfrm>
          <a:prstGeom prst="roundRect">
            <a:avLst>
              <a:gd name="adj" fmla="val 21053"/>
            </a:avLst>
          </a:prstGeom>
          <a:solidFill>
            <a:srgbClr val="0077B6"/>
          </a:solidFill>
          <a:ln w="12700">
            <a:solidFill>
              <a:srgbClr val="0077B6"/>
            </a:solidFill>
            <a:prstDash val="solid"/>
          </a:ln>
        </p:spPr>
        <p:txBody>
          <a:bodyPr/>
          <a:lstStyle/>
          <a:p>
            <a:endParaRPr lang="en-IN"/>
          </a:p>
        </p:txBody>
      </p:sp>
      <p:sp>
        <p:nvSpPr>
          <p:cNvPr id="13" name="Text 11"/>
          <p:cNvSpPr/>
          <p:nvPr/>
        </p:nvSpPr>
        <p:spPr>
          <a:xfrm>
            <a:off x="758952" y="2468880"/>
            <a:ext cx="1408176" cy="34747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 What type of asset do you need?</a:t>
            </a:r>
            <a:endParaRPr lang="en-US" sz="950" dirty="0"/>
          </a:p>
        </p:txBody>
      </p:sp>
      <p:sp>
        <p:nvSpPr>
          <p:cNvPr id="14" name="Shape 12"/>
          <p:cNvSpPr/>
          <p:nvPr/>
        </p:nvSpPr>
        <p:spPr>
          <a:xfrm>
            <a:off x="2103120" y="2999232"/>
            <a:ext cx="1554480" cy="347472"/>
          </a:xfrm>
          <a:prstGeom prst="roundRect">
            <a:avLst>
              <a:gd name="adj" fmla="val 21053"/>
            </a:avLst>
          </a:prstGeom>
          <a:solidFill>
            <a:srgbClr val="334155"/>
          </a:solidFill>
          <a:ln w="12700">
            <a:solidFill>
              <a:srgbClr val="334155"/>
            </a:solidFill>
            <a:prstDash val="solid"/>
          </a:ln>
        </p:spPr>
        <p:txBody>
          <a:bodyPr/>
          <a:lstStyle/>
          <a:p>
            <a:endParaRPr lang="en-IN"/>
          </a:p>
        </p:txBody>
      </p:sp>
      <p:sp>
        <p:nvSpPr>
          <p:cNvPr id="15" name="Text 13"/>
          <p:cNvSpPr/>
          <p:nvPr/>
        </p:nvSpPr>
        <p:spPr>
          <a:xfrm>
            <a:off x="2176272" y="2999232"/>
            <a:ext cx="1408176" cy="347472"/>
          </a:xfrm>
          <a:prstGeom prst="rect">
            <a:avLst/>
          </a:prstGeom>
          <a:noFill/>
          <a:ln/>
        </p:spPr>
        <p:txBody>
          <a:bodyPr wrap="square" lIns="0" tIns="0" rIns="0" bIns="0" rtlCol="0" anchor="ctr"/>
          <a:lstStyle/>
          <a:p>
            <a:pPr marL="0" indent="0" algn="r">
              <a:buNone/>
            </a:pPr>
            <a:r>
              <a:rPr lang="en-US" sz="950" dirty="0">
                <a:solidFill>
                  <a:srgbClr val="FFFFFF"/>
                </a:solidFill>
                <a:latin typeface="Calibri" pitchFamily="34" charset="0"/>
                <a:ea typeface="Calibri" pitchFamily="34" charset="-122"/>
                <a:cs typeface="Calibri" pitchFamily="34" charset="-120"/>
              </a:rPr>
              <a:t>Laptop</a:t>
            </a:r>
            <a:endParaRPr lang="en-US" sz="950" dirty="0"/>
          </a:p>
        </p:txBody>
      </p:sp>
      <p:sp>
        <p:nvSpPr>
          <p:cNvPr id="16" name="Shape 14"/>
          <p:cNvSpPr/>
          <p:nvPr/>
        </p:nvSpPr>
        <p:spPr>
          <a:xfrm>
            <a:off x="685800" y="3401568"/>
            <a:ext cx="1554480" cy="347472"/>
          </a:xfrm>
          <a:prstGeom prst="roundRect">
            <a:avLst>
              <a:gd name="adj" fmla="val 21053"/>
            </a:avLst>
          </a:prstGeom>
          <a:solidFill>
            <a:srgbClr val="0077B6"/>
          </a:solidFill>
          <a:ln w="12700">
            <a:solidFill>
              <a:srgbClr val="0077B6"/>
            </a:solidFill>
            <a:prstDash val="solid"/>
          </a:ln>
        </p:spPr>
        <p:txBody>
          <a:bodyPr/>
          <a:lstStyle/>
          <a:p>
            <a:endParaRPr lang="en-IN"/>
          </a:p>
        </p:txBody>
      </p:sp>
      <p:sp>
        <p:nvSpPr>
          <p:cNvPr id="17" name="Text 15"/>
          <p:cNvSpPr/>
          <p:nvPr/>
        </p:nvSpPr>
        <p:spPr>
          <a:xfrm>
            <a:off x="758952" y="3401568"/>
            <a:ext cx="1408176" cy="34747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 Asset name?</a:t>
            </a:r>
            <a:endParaRPr lang="en-US" sz="950" dirty="0"/>
          </a:p>
        </p:txBody>
      </p:sp>
      <p:sp>
        <p:nvSpPr>
          <p:cNvPr id="18" name="Shape 16"/>
          <p:cNvSpPr/>
          <p:nvPr/>
        </p:nvSpPr>
        <p:spPr>
          <a:xfrm>
            <a:off x="2103120" y="3822192"/>
            <a:ext cx="1554480" cy="347472"/>
          </a:xfrm>
          <a:prstGeom prst="roundRect">
            <a:avLst>
              <a:gd name="adj" fmla="val 21053"/>
            </a:avLst>
          </a:prstGeom>
          <a:solidFill>
            <a:srgbClr val="334155"/>
          </a:solidFill>
          <a:ln w="12700">
            <a:solidFill>
              <a:srgbClr val="334155"/>
            </a:solidFill>
            <a:prstDash val="solid"/>
          </a:ln>
        </p:spPr>
        <p:txBody>
          <a:bodyPr/>
          <a:lstStyle/>
          <a:p>
            <a:endParaRPr lang="en-IN"/>
          </a:p>
        </p:txBody>
      </p:sp>
      <p:sp>
        <p:nvSpPr>
          <p:cNvPr id="19" name="Text 17"/>
          <p:cNvSpPr/>
          <p:nvPr/>
        </p:nvSpPr>
        <p:spPr>
          <a:xfrm>
            <a:off x="2176272" y="3822192"/>
            <a:ext cx="1408176" cy="347472"/>
          </a:xfrm>
          <a:prstGeom prst="rect">
            <a:avLst/>
          </a:prstGeom>
          <a:noFill/>
          <a:ln/>
        </p:spPr>
        <p:txBody>
          <a:bodyPr wrap="square" lIns="0" tIns="0" rIns="0" bIns="0" rtlCol="0" anchor="ctr"/>
          <a:lstStyle/>
          <a:p>
            <a:pPr marL="0" indent="0" algn="r">
              <a:buNone/>
            </a:pPr>
            <a:r>
              <a:rPr lang="en-US" sz="950" dirty="0">
                <a:solidFill>
                  <a:srgbClr val="FFFFFF"/>
                </a:solidFill>
                <a:latin typeface="Calibri" pitchFamily="34" charset="0"/>
                <a:ea typeface="Calibri" pitchFamily="34" charset="-122"/>
                <a:cs typeface="Calibri" pitchFamily="34" charset="-120"/>
              </a:rPr>
              <a:t>Dell Latitude 5440</a:t>
            </a:r>
            <a:endParaRPr lang="en-US" sz="950" dirty="0"/>
          </a:p>
        </p:txBody>
      </p:sp>
      <p:sp>
        <p:nvSpPr>
          <p:cNvPr id="20" name="Shape 18"/>
          <p:cNvSpPr/>
          <p:nvPr/>
        </p:nvSpPr>
        <p:spPr>
          <a:xfrm>
            <a:off x="685800" y="4224528"/>
            <a:ext cx="1554480" cy="347472"/>
          </a:xfrm>
          <a:prstGeom prst="roundRect">
            <a:avLst>
              <a:gd name="adj" fmla="val 21053"/>
            </a:avLst>
          </a:prstGeom>
          <a:solidFill>
            <a:srgbClr val="0077B6"/>
          </a:solidFill>
          <a:ln w="12700">
            <a:solidFill>
              <a:srgbClr val="0077B6"/>
            </a:solidFill>
            <a:prstDash val="solid"/>
          </a:ln>
        </p:spPr>
        <p:txBody>
          <a:bodyPr/>
          <a:lstStyle/>
          <a:p>
            <a:endParaRPr lang="en-IN"/>
          </a:p>
        </p:txBody>
      </p:sp>
      <p:sp>
        <p:nvSpPr>
          <p:cNvPr id="21" name="Text 19"/>
          <p:cNvSpPr/>
          <p:nvPr/>
        </p:nvSpPr>
        <p:spPr>
          <a:xfrm>
            <a:off x="758952" y="4224528"/>
            <a:ext cx="1408176" cy="34747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 Justification?</a:t>
            </a:r>
            <a:endParaRPr lang="en-US" sz="950" dirty="0"/>
          </a:p>
        </p:txBody>
      </p:sp>
      <p:sp>
        <p:nvSpPr>
          <p:cNvPr id="22" name="Shape 20"/>
          <p:cNvSpPr/>
          <p:nvPr/>
        </p:nvSpPr>
        <p:spPr>
          <a:xfrm>
            <a:off x="4206240" y="822960"/>
            <a:ext cx="384048" cy="384048"/>
          </a:xfrm>
          <a:prstGeom prst="ellipse">
            <a:avLst/>
          </a:prstGeom>
          <a:solidFill>
            <a:srgbClr val="00B4D8"/>
          </a:solidFill>
          <a:ln w="12700">
            <a:solidFill>
              <a:srgbClr val="00B4D8"/>
            </a:solidFill>
            <a:prstDash val="solid"/>
          </a:ln>
        </p:spPr>
        <p:txBody>
          <a:bodyPr/>
          <a:lstStyle/>
          <a:p>
            <a:endParaRPr lang="en-IN"/>
          </a:p>
        </p:txBody>
      </p:sp>
      <p:sp>
        <p:nvSpPr>
          <p:cNvPr id="23" name="Text 21"/>
          <p:cNvSpPr/>
          <p:nvPr/>
        </p:nvSpPr>
        <p:spPr>
          <a:xfrm>
            <a:off x="4206240" y="822960"/>
            <a:ext cx="384048" cy="384048"/>
          </a:xfrm>
          <a:prstGeom prst="rect">
            <a:avLst/>
          </a:prstGeom>
          <a:noFill/>
          <a:ln/>
        </p:spPr>
        <p:txBody>
          <a:bodyPr wrap="square" lIns="0" tIns="0" rIns="0" bIns="0" rtlCol="0" anchor="ctr"/>
          <a:lstStyle/>
          <a:p>
            <a:pPr marL="0" indent="0" algn="ctr">
              <a:buNone/>
            </a:pPr>
            <a:r>
              <a:rPr lang="en-US" sz="1300" b="1" dirty="0">
                <a:solidFill>
                  <a:srgbClr val="0D1B2A"/>
                </a:solidFill>
              </a:rPr>
              <a:t>1</a:t>
            </a:r>
            <a:endParaRPr lang="en-US" sz="1300" dirty="0"/>
          </a:p>
        </p:txBody>
      </p:sp>
      <p:sp>
        <p:nvSpPr>
          <p:cNvPr id="24" name="Text 22"/>
          <p:cNvSpPr/>
          <p:nvPr/>
        </p:nvSpPr>
        <p:spPr>
          <a:xfrm>
            <a:off x="4681728" y="841248"/>
            <a:ext cx="4023360" cy="228600"/>
          </a:xfrm>
          <a:prstGeom prst="rect">
            <a:avLst/>
          </a:prstGeom>
          <a:noFill/>
          <a:ln/>
        </p:spPr>
        <p:txBody>
          <a:bodyPr wrap="square" lIns="0" tIns="0" rIns="0" bIns="0" rtlCol="0" anchor="ctr"/>
          <a:lstStyle/>
          <a:p>
            <a:pPr marL="0" indent="0">
              <a:buNone/>
            </a:pPr>
            <a:r>
              <a:rPr lang="en-US" sz="1400" b="1" dirty="0">
                <a:solidFill>
                  <a:srgbClr val="90E0EF"/>
                </a:solidFill>
                <a:latin typeface="Trebuchet MS" pitchFamily="34" charset="0"/>
                <a:ea typeface="Trebuchet MS" pitchFamily="34" charset="-122"/>
                <a:cs typeface="Trebuchet MS" pitchFamily="34" charset="-120"/>
              </a:rPr>
              <a:t>Start Bot</a:t>
            </a:r>
            <a:endParaRPr lang="en-US" sz="1400" dirty="0"/>
          </a:p>
        </p:txBody>
      </p:sp>
      <p:sp>
        <p:nvSpPr>
          <p:cNvPr id="25" name="Text 23"/>
          <p:cNvSpPr/>
          <p:nvPr/>
        </p:nvSpPr>
        <p:spPr>
          <a:xfrm>
            <a:off x="4681728" y="1078992"/>
            <a:ext cx="402336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User sends /start command</a:t>
            </a:r>
            <a:endParaRPr lang="en-US" sz="1200" dirty="0"/>
          </a:p>
        </p:txBody>
      </p:sp>
      <p:sp>
        <p:nvSpPr>
          <p:cNvPr id="26" name="Shape 24"/>
          <p:cNvSpPr/>
          <p:nvPr/>
        </p:nvSpPr>
        <p:spPr>
          <a:xfrm>
            <a:off x="4370832" y="1207008"/>
            <a:ext cx="54864" cy="457200"/>
          </a:xfrm>
          <a:prstGeom prst="rect">
            <a:avLst/>
          </a:prstGeom>
          <a:solidFill>
            <a:srgbClr val="00B4D8"/>
          </a:solidFill>
          <a:ln w="12700">
            <a:solidFill>
              <a:srgbClr val="00B4D8"/>
            </a:solidFill>
            <a:prstDash val="solid"/>
          </a:ln>
        </p:spPr>
        <p:txBody>
          <a:bodyPr/>
          <a:lstStyle/>
          <a:p>
            <a:endParaRPr lang="en-IN"/>
          </a:p>
        </p:txBody>
      </p:sp>
      <p:sp>
        <p:nvSpPr>
          <p:cNvPr id="27" name="Shape 25"/>
          <p:cNvSpPr/>
          <p:nvPr/>
        </p:nvSpPr>
        <p:spPr>
          <a:xfrm>
            <a:off x="4206240" y="1664208"/>
            <a:ext cx="384048" cy="384048"/>
          </a:xfrm>
          <a:prstGeom prst="ellipse">
            <a:avLst/>
          </a:prstGeom>
          <a:solidFill>
            <a:srgbClr val="00B4D8"/>
          </a:solidFill>
          <a:ln w="12700">
            <a:solidFill>
              <a:srgbClr val="00B4D8"/>
            </a:solidFill>
            <a:prstDash val="solid"/>
          </a:ln>
        </p:spPr>
        <p:txBody>
          <a:bodyPr/>
          <a:lstStyle/>
          <a:p>
            <a:endParaRPr lang="en-IN"/>
          </a:p>
        </p:txBody>
      </p:sp>
      <p:sp>
        <p:nvSpPr>
          <p:cNvPr id="28" name="Text 26"/>
          <p:cNvSpPr/>
          <p:nvPr/>
        </p:nvSpPr>
        <p:spPr>
          <a:xfrm>
            <a:off x="4206240" y="1664208"/>
            <a:ext cx="384048" cy="384048"/>
          </a:xfrm>
          <a:prstGeom prst="rect">
            <a:avLst/>
          </a:prstGeom>
          <a:noFill/>
          <a:ln/>
        </p:spPr>
        <p:txBody>
          <a:bodyPr wrap="square" lIns="0" tIns="0" rIns="0" bIns="0" rtlCol="0" anchor="ctr"/>
          <a:lstStyle/>
          <a:p>
            <a:pPr marL="0" indent="0" algn="ctr">
              <a:buNone/>
            </a:pPr>
            <a:r>
              <a:rPr lang="en-US" sz="1300" b="1" dirty="0">
                <a:solidFill>
                  <a:srgbClr val="0D1B2A"/>
                </a:solidFill>
              </a:rPr>
              <a:t>2</a:t>
            </a:r>
            <a:endParaRPr lang="en-US" sz="1300" dirty="0"/>
          </a:p>
        </p:txBody>
      </p:sp>
      <p:sp>
        <p:nvSpPr>
          <p:cNvPr id="29" name="Text 27"/>
          <p:cNvSpPr/>
          <p:nvPr/>
        </p:nvSpPr>
        <p:spPr>
          <a:xfrm>
            <a:off x="4681728" y="1682496"/>
            <a:ext cx="4023360" cy="228600"/>
          </a:xfrm>
          <a:prstGeom prst="rect">
            <a:avLst/>
          </a:prstGeom>
          <a:noFill/>
          <a:ln/>
        </p:spPr>
        <p:txBody>
          <a:bodyPr wrap="square" lIns="0" tIns="0" rIns="0" bIns="0" rtlCol="0" anchor="ctr"/>
          <a:lstStyle/>
          <a:p>
            <a:pPr marL="0" indent="0">
              <a:buNone/>
            </a:pPr>
            <a:r>
              <a:rPr lang="en-US" sz="1400" b="1" dirty="0">
                <a:solidFill>
                  <a:srgbClr val="90E0EF"/>
                </a:solidFill>
                <a:latin typeface="Trebuchet MS" pitchFamily="34" charset="0"/>
                <a:ea typeface="Trebuchet MS" pitchFamily="34" charset="-122"/>
                <a:cs typeface="Trebuchet MS" pitchFamily="34" charset="-120"/>
              </a:rPr>
              <a:t>Employee ID</a:t>
            </a:r>
            <a:endParaRPr lang="en-US" sz="1400" dirty="0"/>
          </a:p>
        </p:txBody>
      </p:sp>
      <p:sp>
        <p:nvSpPr>
          <p:cNvPr id="30" name="Text 28"/>
          <p:cNvSpPr/>
          <p:nvPr/>
        </p:nvSpPr>
        <p:spPr>
          <a:xfrm>
            <a:off x="4681728" y="1920240"/>
            <a:ext cx="402336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System prompts for Employee ID</a:t>
            </a:r>
            <a:endParaRPr lang="en-US" sz="1200" dirty="0"/>
          </a:p>
        </p:txBody>
      </p:sp>
      <p:sp>
        <p:nvSpPr>
          <p:cNvPr id="31" name="Shape 29"/>
          <p:cNvSpPr/>
          <p:nvPr/>
        </p:nvSpPr>
        <p:spPr>
          <a:xfrm>
            <a:off x="4370832" y="2048256"/>
            <a:ext cx="54864" cy="457200"/>
          </a:xfrm>
          <a:prstGeom prst="rect">
            <a:avLst/>
          </a:prstGeom>
          <a:solidFill>
            <a:srgbClr val="00B4D8"/>
          </a:solidFill>
          <a:ln w="12700">
            <a:solidFill>
              <a:srgbClr val="00B4D8"/>
            </a:solidFill>
            <a:prstDash val="solid"/>
          </a:ln>
        </p:spPr>
        <p:txBody>
          <a:bodyPr/>
          <a:lstStyle/>
          <a:p>
            <a:endParaRPr lang="en-IN"/>
          </a:p>
        </p:txBody>
      </p:sp>
      <p:sp>
        <p:nvSpPr>
          <p:cNvPr id="32" name="Shape 30"/>
          <p:cNvSpPr/>
          <p:nvPr/>
        </p:nvSpPr>
        <p:spPr>
          <a:xfrm>
            <a:off x="4206240" y="2505456"/>
            <a:ext cx="384048" cy="384048"/>
          </a:xfrm>
          <a:prstGeom prst="ellipse">
            <a:avLst/>
          </a:prstGeom>
          <a:solidFill>
            <a:srgbClr val="00B4D8"/>
          </a:solidFill>
          <a:ln w="12700">
            <a:solidFill>
              <a:srgbClr val="00B4D8"/>
            </a:solidFill>
            <a:prstDash val="solid"/>
          </a:ln>
        </p:spPr>
        <p:txBody>
          <a:bodyPr/>
          <a:lstStyle/>
          <a:p>
            <a:endParaRPr lang="en-IN"/>
          </a:p>
        </p:txBody>
      </p:sp>
      <p:sp>
        <p:nvSpPr>
          <p:cNvPr id="33" name="Text 31"/>
          <p:cNvSpPr/>
          <p:nvPr/>
        </p:nvSpPr>
        <p:spPr>
          <a:xfrm>
            <a:off x="4206240" y="2505456"/>
            <a:ext cx="384048" cy="384048"/>
          </a:xfrm>
          <a:prstGeom prst="rect">
            <a:avLst/>
          </a:prstGeom>
          <a:noFill/>
          <a:ln/>
        </p:spPr>
        <p:txBody>
          <a:bodyPr wrap="square" lIns="0" tIns="0" rIns="0" bIns="0" rtlCol="0" anchor="ctr"/>
          <a:lstStyle/>
          <a:p>
            <a:pPr marL="0" indent="0" algn="ctr">
              <a:buNone/>
            </a:pPr>
            <a:r>
              <a:rPr lang="en-US" sz="1300" b="1" dirty="0">
                <a:solidFill>
                  <a:srgbClr val="0D1B2A"/>
                </a:solidFill>
              </a:rPr>
              <a:t>3</a:t>
            </a:r>
            <a:endParaRPr lang="en-US" sz="1300" dirty="0"/>
          </a:p>
        </p:txBody>
      </p:sp>
      <p:sp>
        <p:nvSpPr>
          <p:cNvPr id="34" name="Text 32"/>
          <p:cNvSpPr/>
          <p:nvPr/>
        </p:nvSpPr>
        <p:spPr>
          <a:xfrm>
            <a:off x="4681728" y="2523744"/>
            <a:ext cx="4023360" cy="228600"/>
          </a:xfrm>
          <a:prstGeom prst="rect">
            <a:avLst/>
          </a:prstGeom>
          <a:noFill/>
          <a:ln/>
        </p:spPr>
        <p:txBody>
          <a:bodyPr wrap="square" lIns="0" tIns="0" rIns="0" bIns="0" rtlCol="0" anchor="ctr"/>
          <a:lstStyle/>
          <a:p>
            <a:pPr marL="0" indent="0">
              <a:buNone/>
            </a:pPr>
            <a:r>
              <a:rPr lang="en-US" sz="1400" b="1" dirty="0">
                <a:solidFill>
                  <a:srgbClr val="90E0EF"/>
                </a:solidFill>
                <a:latin typeface="Trebuchet MS" pitchFamily="34" charset="0"/>
                <a:ea typeface="Trebuchet MS" pitchFamily="34" charset="-122"/>
                <a:cs typeface="Trebuchet MS" pitchFamily="34" charset="-120"/>
              </a:rPr>
              <a:t>Asset Type</a:t>
            </a:r>
            <a:endParaRPr lang="en-US" sz="1400" dirty="0"/>
          </a:p>
        </p:txBody>
      </p:sp>
      <p:sp>
        <p:nvSpPr>
          <p:cNvPr id="35" name="Text 33"/>
          <p:cNvSpPr/>
          <p:nvPr/>
        </p:nvSpPr>
        <p:spPr>
          <a:xfrm>
            <a:off x="4681728" y="2761488"/>
            <a:ext cx="402336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Collect type: Laptop, Monitor, etc.</a:t>
            </a:r>
            <a:endParaRPr lang="en-US" sz="1200" dirty="0"/>
          </a:p>
        </p:txBody>
      </p:sp>
      <p:sp>
        <p:nvSpPr>
          <p:cNvPr id="36" name="Shape 34"/>
          <p:cNvSpPr/>
          <p:nvPr/>
        </p:nvSpPr>
        <p:spPr>
          <a:xfrm>
            <a:off x="4370832" y="2889504"/>
            <a:ext cx="54864" cy="457200"/>
          </a:xfrm>
          <a:prstGeom prst="rect">
            <a:avLst/>
          </a:prstGeom>
          <a:solidFill>
            <a:srgbClr val="00B4D8"/>
          </a:solidFill>
          <a:ln w="12700">
            <a:solidFill>
              <a:srgbClr val="00B4D8"/>
            </a:solidFill>
            <a:prstDash val="solid"/>
          </a:ln>
        </p:spPr>
        <p:txBody>
          <a:bodyPr/>
          <a:lstStyle/>
          <a:p>
            <a:endParaRPr lang="en-IN"/>
          </a:p>
        </p:txBody>
      </p:sp>
      <p:sp>
        <p:nvSpPr>
          <p:cNvPr id="37" name="Shape 35"/>
          <p:cNvSpPr/>
          <p:nvPr/>
        </p:nvSpPr>
        <p:spPr>
          <a:xfrm>
            <a:off x="4206240" y="3346704"/>
            <a:ext cx="384048" cy="384048"/>
          </a:xfrm>
          <a:prstGeom prst="ellipse">
            <a:avLst/>
          </a:prstGeom>
          <a:solidFill>
            <a:srgbClr val="00B4D8"/>
          </a:solidFill>
          <a:ln w="12700">
            <a:solidFill>
              <a:srgbClr val="00B4D8"/>
            </a:solidFill>
            <a:prstDash val="solid"/>
          </a:ln>
        </p:spPr>
        <p:txBody>
          <a:bodyPr/>
          <a:lstStyle/>
          <a:p>
            <a:endParaRPr lang="en-IN"/>
          </a:p>
        </p:txBody>
      </p:sp>
      <p:sp>
        <p:nvSpPr>
          <p:cNvPr id="38" name="Text 36"/>
          <p:cNvSpPr/>
          <p:nvPr/>
        </p:nvSpPr>
        <p:spPr>
          <a:xfrm>
            <a:off x="4206240" y="3346704"/>
            <a:ext cx="384048" cy="384048"/>
          </a:xfrm>
          <a:prstGeom prst="rect">
            <a:avLst/>
          </a:prstGeom>
          <a:noFill/>
          <a:ln/>
        </p:spPr>
        <p:txBody>
          <a:bodyPr wrap="square" lIns="0" tIns="0" rIns="0" bIns="0" rtlCol="0" anchor="ctr"/>
          <a:lstStyle/>
          <a:p>
            <a:pPr marL="0" indent="0" algn="ctr">
              <a:buNone/>
            </a:pPr>
            <a:r>
              <a:rPr lang="en-US" sz="1300" b="1" dirty="0">
                <a:solidFill>
                  <a:srgbClr val="0D1B2A"/>
                </a:solidFill>
              </a:rPr>
              <a:t>4</a:t>
            </a:r>
            <a:endParaRPr lang="en-US" sz="1300" dirty="0"/>
          </a:p>
        </p:txBody>
      </p:sp>
      <p:sp>
        <p:nvSpPr>
          <p:cNvPr id="39" name="Text 37"/>
          <p:cNvSpPr/>
          <p:nvPr/>
        </p:nvSpPr>
        <p:spPr>
          <a:xfrm>
            <a:off x="4681728" y="3364992"/>
            <a:ext cx="4023360" cy="228600"/>
          </a:xfrm>
          <a:prstGeom prst="rect">
            <a:avLst/>
          </a:prstGeom>
          <a:noFill/>
          <a:ln/>
        </p:spPr>
        <p:txBody>
          <a:bodyPr wrap="square" lIns="0" tIns="0" rIns="0" bIns="0" rtlCol="0" anchor="ctr"/>
          <a:lstStyle/>
          <a:p>
            <a:pPr marL="0" indent="0">
              <a:buNone/>
            </a:pPr>
            <a:r>
              <a:rPr lang="en-US" sz="1400" b="1" dirty="0">
                <a:solidFill>
                  <a:srgbClr val="90E0EF"/>
                </a:solidFill>
                <a:latin typeface="Trebuchet MS" pitchFamily="34" charset="0"/>
                <a:ea typeface="Trebuchet MS" pitchFamily="34" charset="-122"/>
                <a:cs typeface="Trebuchet MS" pitchFamily="34" charset="-120"/>
              </a:rPr>
              <a:t>Asset Name</a:t>
            </a:r>
            <a:endParaRPr lang="en-US" sz="1400" dirty="0"/>
          </a:p>
        </p:txBody>
      </p:sp>
      <p:sp>
        <p:nvSpPr>
          <p:cNvPr id="40" name="Text 38"/>
          <p:cNvSpPr/>
          <p:nvPr/>
        </p:nvSpPr>
        <p:spPr>
          <a:xfrm>
            <a:off x="4681728" y="3602736"/>
            <a:ext cx="402336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Specific model or product name</a:t>
            </a:r>
            <a:endParaRPr lang="en-US" sz="1200" dirty="0"/>
          </a:p>
        </p:txBody>
      </p:sp>
      <p:sp>
        <p:nvSpPr>
          <p:cNvPr id="41" name="Shape 39"/>
          <p:cNvSpPr/>
          <p:nvPr/>
        </p:nvSpPr>
        <p:spPr>
          <a:xfrm>
            <a:off x="4370832" y="3730752"/>
            <a:ext cx="54864" cy="457200"/>
          </a:xfrm>
          <a:prstGeom prst="rect">
            <a:avLst/>
          </a:prstGeom>
          <a:solidFill>
            <a:srgbClr val="00B4D8"/>
          </a:solidFill>
          <a:ln w="12700">
            <a:solidFill>
              <a:srgbClr val="00B4D8"/>
            </a:solidFill>
            <a:prstDash val="solid"/>
          </a:ln>
        </p:spPr>
        <p:txBody>
          <a:bodyPr/>
          <a:lstStyle/>
          <a:p>
            <a:endParaRPr lang="en-IN"/>
          </a:p>
        </p:txBody>
      </p:sp>
      <p:sp>
        <p:nvSpPr>
          <p:cNvPr id="42" name="Shape 40"/>
          <p:cNvSpPr/>
          <p:nvPr/>
        </p:nvSpPr>
        <p:spPr>
          <a:xfrm>
            <a:off x="4206240" y="4187952"/>
            <a:ext cx="384048" cy="384048"/>
          </a:xfrm>
          <a:prstGeom prst="ellipse">
            <a:avLst/>
          </a:prstGeom>
          <a:solidFill>
            <a:srgbClr val="00B4D8"/>
          </a:solidFill>
          <a:ln w="12700">
            <a:solidFill>
              <a:srgbClr val="00B4D8"/>
            </a:solidFill>
            <a:prstDash val="solid"/>
          </a:ln>
        </p:spPr>
        <p:txBody>
          <a:bodyPr/>
          <a:lstStyle/>
          <a:p>
            <a:endParaRPr lang="en-IN"/>
          </a:p>
        </p:txBody>
      </p:sp>
      <p:sp>
        <p:nvSpPr>
          <p:cNvPr id="43" name="Text 41"/>
          <p:cNvSpPr/>
          <p:nvPr/>
        </p:nvSpPr>
        <p:spPr>
          <a:xfrm>
            <a:off x="4206240" y="4187952"/>
            <a:ext cx="384048" cy="384048"/>
          </a:xfrm>
          <a:prstGeom prst="rect">
            <a:avLst/>
          </a:prstGeom>
          <a:noFill/>
          <a:ln/>
        </p:spPr>
        <p:txBody>
          <a:bodyPr wrap="square" lIns="0" tIns="0" rIns="0" bIns="0" rtlCol="0" anchor="ctr"/>
          <a:lstStyle/>
          <a:p>
            <a:pPr marL="0" indent="0" algn="ctr">
              <a:buNone/>
            </a:pPr>
            <a:r>
              <a:rPr lang="en-US" sz="1300" b="1" dirty="0">
                <a:solidFill>
                  <a:srgbClr val="0D1B2A"/>
                </a:solidFill>
              </a:rPr>
              <a:t>5</a:t>
            </a:r>
            <a:endParaRPr lang="en-US" sz="1300" dirty="0"/>
          </a:p>
        </p:txBody>
      </p:sp>
      <p:sp>
        <p:nvSpPr>
          <p:cNvPr id="44" name="Text 42"/>
          <p:cNvSpPr/>
          <p:nvPr/>
        </p:nvSpPr>
        <p:spPr>
          <a:xfrm>
            <a:off x="4681728" y="4206240"/>
            <a:ext cx="4023360" cy="228600"/>
          </a:xfrm>
          <a:prstGeom prst="rect">
            <a:avLst/>
          </a:prstGeom>
          <a:noFill/>
          <a:ln/>
        </p:spPr>
        <p:txBody>
          <a:bodyPr wrap="square" lIns="0" tIns="0" rIns="0" bIns="0" rtlCol="0" anchor="ctr"/>
          <a:lstStyle/>
          <a:p>
            <a:pPr marL="0" indent="0">
              <a:buNone/>
            </a:pPr>
            <a:r>
              <a:rPr lang="en-US" sz="1400" b="1" dirty="0">
                <a:solidFill>
                  <a:srgbClr val="90E0EF"/>
                </a:solidFill>
                <a:latin typeface="Trebuchet MS" pitchFamily="34" charset="0"/>
                <a:ea typeface="Trebuchet MS" pitchFamily="34" charset="-122"/>
                <a:cs typeface="Trebuchet MS" pitchFamily="34" charset="-120"/>
              </a:rPr>
              <a:t>Justification</a:t>
            </a:r>
            <a:endParaRPr lang="en-US" sz="1400" dirty="0"/>
          </a:p>
        </p:txBody>
      </p:sp>
      <p:sp>
        <p:nvSpPr>
          <p:cNvPr id="45" name="Text 43"/>
          <p:cNvSpPr/>
          <p:nvPr/>
        </p:nvSpPr>
        <p:spPr>
          <a:xfrm>
            <a:off x="4681728" y="4443984"/>
            <a:ext cx="4023360" cy="32004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Business reason for the request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Structured Request Generation</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65760" y="868680"/>
            <a:ext cx="4937760" cy="3931920"/>
          </a:xfrm>
          <a:prstGeom prst="rect">
            <a:avLst/>
          </a:prstGeom>
          <a:solidFill>
            <a:srgbClr val="111827"/>
          </a:solidFill>
          <a:ln w="12700">
            <a:solidFill>
              <a:srgbClr val="00B4D8"/>
            </a:solidFill>
            <a:prstDash val="solid"/>
          </a:ln>
        </p:spPr>
        <p:txBody>
          <a:bodyPr/>
          <a:lstStyle/>
          <a:p>
            <a:endParaRPr lang="en-IN"/>
          </a:p>
        </p:txBody>
      </p:sp>
      <p:sp>
        <p:nvSpPr>
          <p:cNvPr id="6" name="Shape 4"/>
          <p:cNvSpPr/>
          <p:nvPr/>
        </p:nvSpPr>
        <p:spPr>
          <a:xfrm>
            <a:off x="548640" y="987552"/>
            <a:ext cx="128016" cy="128016"/>
          </a:xfrm>
          <a:prstGeom prst="ellipse">
            <a:avLst/>
          </a:prstGeom>
          <a:solidFill>
            <a:srgbClr val="EF4444"/>
          </a:solidFill>
          <a:ln w="12700">
            <a:solidFill>
              <a:srgbClr val="EF4444"/>
            </a:solidFill>
            <a:prstDash val="solid"/>
          </a:ln>
        </p:spPr>
        <p:txBody>
          <a:bodyPr/>
          <a:lstStyle/>
          <a:p>
            <a:endParaRPr lang="en-IN"/>
          </a:p>
        </p:txBody>
      </p:sp>
      <p:sp>
        <p:nvSpPr>
          <p:cNvPr id="7" name="Shape 5"/>
          <p:cNvSpPr/>
          <p:nvPr/>
        </p:nvSpPr>
        <p:spPr>
          <a:xfrm>
            <a:off x="786384" y="987552"/>
            <a:ext cx="128016" cy="128016"/>
          </a:xfrm>
          <a:prstGeom prst="ellipse">
            <a:avLst/>
          </a:prstGeom>
          <a:solidFill>
            <a:srgbClr val="F59E0B"/>
          </a:solidFill>
          <a:ln w="12700">
            <a:solidFill>
              <a:srgbClr val="F59E0B"/>
            </a:solidFill>
            <a:prstDash val="solid"/>
          </a:ln>
        </p:spPr>
        <p:txBody>
          <a:bodyPr/>
          <a:lstStyle/>
          <a:p>
            <a:endParaRPr lang="en-IN"/>
          </a:p>
        </p:txBody>
      </p:sp>
      <p:sp>
        <p:nvSpPr>
          <p:cNvPr id="8" name="Shape 6"/>
          <p:cNvSpPr/>
          <p:nvPr/>
        </p:nvSpPr>
        <p:spPr>
          <a:xfrm>
            <a:off x="1024128" y="987552"/>
            <a:ext cx="128016" cy="128016"/>
          </a:xfrm>
          <a:prstGeom prst="ellipse">
            <a:avLst/>
          </a:prstGeom>
          <a:solidFill>
            <a:srgbClr val="10B981"/>
          </a:solidFill>
          <a:ln w="12700">
            <a:solidFill>
              <a:srgbClr val="10B981"/>
            </a:solidFill>
            <a:prstDash val="solid"/>
          </a:ln>
        </p:spPr>
        <p:txBody>
          <a:bodyPr/>
          <a:lstStyle/>
          <a:p>
            <a:endParaRPr lang="en-IN"/>
          </a:p>
        </p:txBody>
      </p:sp>
      <p:sp>
        <p:nvSpPr>
          <p:cNvPr id="9" name="Text 7"/>
          <p:cNvSpPr/>
          <p:nvPr/>
        </p:nvSpPr>
        <p:spPr>
          <a:xfrm>
            <a:off x="548640" y="1261872"/>
            <a:ext cx="4572000" cy="36576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0" name="Text 8"/>
          <p:cNvSpPr/>
          <p:nvPr/>
        </p:nvSpPr>
        <p:spPr>
          <a:xfrm>
            <a:off x="548640" y="1645920"/>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"request_id": </a:t>
            </a:r>
            <a:r>
              <a:rPr lang="en-US" sz="1300" dirty="0">
                <a:solidFill>
                  <a:srgbClr val="86EFAC"/>
                </a:solidFill>
                <a:latin typeface="Consolas" pitchFamily="34" charset="0"/>
                <a:ea typeface="Consolas" pitchFamily="34" charset="-122"/>
                <a:cs typeface="Consolas" pitchFamily="34" charset="-120"/>
              </a:rPr>
              <a:t>"AR-C9888B33"</a:t>
            </a:r>
            <a:endParaRPr lang="en-US" sz="1300" dirty="0"/>
          </a:p>
        </p:txBody>
      </p:sp>
      <p:sp>
        <p:nvSpPr>
          <p:cNvPr id="11" name="Text 9"/>
          <p:cNvSpPr/>
          <p:nvPr/>
        </p:nvSpPr>
        <p:spPr>
          <a:xfrm>
            <a:off x="548640" y="2029968"/>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"employee_id": </a:t>
            </a:r>
            <a:r>
              <a:rPr lang="en-US" sz="1300" dirty="0">
                <a:solidFill>
                  <a:srgbClr val="86EFAC"/>
                </a:solidFill>
                <a:latin typeface="Consolas" pitchFamily="34" charset="0"/>
                <a:ea typeface="Consolas" pitchFamily="34" charset="-122"/>
                <a:cs typeface="Consolas" pitchFamily="34" charset="-120"/>
              </a:rPr>
              <a:t>"EMP1001"</a:t>
            </a:r>
            <a:endParaRPr lang="en-US" sz="1300" dirty="0"/>
          </a:p>
        </p:txBody>
      </p:sp>
      <p:sp>
        <p:nvSpPr>
          <p:cNvPr id="12" name="Text 10"/>
          <p:cNvSpPr/>
          <p:nvPr/>
        </p:nvSpPr>
        <p:spPr>
          <a:xfrm>
            <a:off x="548640" y="2414016"/>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"asset_type": </a:t>
            </a:r>
            <a:r>
              <a:rPr lang="en-US" sz="1300" dirty="0">
                <a:solidFill>
                  <a:srgbClr val="86EFAC"/>
                </a:solidFill>
                <a:latin typeface="Consolas" pitchFamily="34" charset="0"/>
                <a:ea typeface="Consolas" pitchFamily="34" charset="-122"/>
                <a:cs typeface="Consolas" pitchFamily="34" charset="-120"/>
              </a:rPr>
              <a:t>"Laptop"</a:t>
            </a:r>
            <a:endParaRPr lang="en-US" sz="1300" dirty="0"/>
          </a:p>
        </p:txBody>
      </p:sp>
      <p:sp>
        <p:nvSpPr>
          <p:cNvPr id="13" name="Text 11"/>
          <p:cNvSpPr/>
          <p:nvPr/>
        </p:nvSpPr>
        <p:spPr>
          <a:xfrm>
            <a:off x="548640" y="2798064"/>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"asset_name": </a:t>
            </a:r>
            <a:r>
              <a:rPr lang="en-US" sz="1300" dirty="0">
                <a:solidFill>
                  <a:srgbClr val="86EFAC"/>
                </a:solidFill>
                <a:latin typeface="Consolas" pitchFamily="34" charset="0"/>
                <a:ea typeface="Consolas" pitchFamily="34" charset="-122"/>
                <a:cs typeface="Consolas" pitchFamily="34" charset="-120"/>
              </a:rPr>
              <a:t>"Dell Latitude 5440"</a:t>
            </a:r>
            <a:endParaRPr lang="en-US" sz="1300" dirty="0"/>
          </a:p>
        </p:txBody>
      </p:sp>
      <p:sp>
        <p:nvSpPr>
          <p:cNvPr id="14" name="Text 12"/>
          <p:cNvSpPr/>
          <p:nvPr/>
        </p:nvSpPr>
        <p:spPr>
          <a:xfrm>
            <a:off x="548640" y="3182112"/>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"justification": </a:t>
            </a:r>
            <a:r>
              <a:rPr lang="en-US" sz="1300" dirty="0">
                <a:solidFill>
                  <a:srgbClr val="86EFAC"/>
                </a:solidFill>
                <a:latin typeface="Consolas" pitchFamily="34" charset="0"/>
                <a:ea typeface="Consolas" pitchFamily="34" charset="-122"/>
                <a:cs typeface="Consolas" pitchFamily="34" charset="-120"/>
              </a:rPr>
              <a:t>"New Project Onboarding"</a:t>
            </a:r>
            <a:endParaRPr lang="en-US" sz="1300" dirty="0"/>
          </a:p>
        </p:txBody>
      </p:sp>
      <p:sp>
        <p:nvSpPr>
          <p:cNvPr id="15" name="Text 13"/>
          <p:cNvSpPr/>
          <p:nvPr/>
        </p:nvSpPr>
        <p:spPr>
          <a:xfrm>
            <a:off x="548640" y="3566160"/>
            <a:ext cx="4572000" cy="365760"/>
          </a:xfrm>
          <a:prstGeom prst="rect">
            <a:avLst/>
          </a:prstGeom>
          <a:noFill/>
          <a:ln/>
        </p:spPr>
        <p:txBody>
          <a:bodyPr wrap="square" lIns="0" tIns="0" rIns="0" bIns="0" rtlCol="0" anchor="ctr"/>
          <a:lstStyle/>
          <a:p>
            <a:pPr marL="0" indent="0">
              <a:buNone/>
            </a:pPr>
            <a:r>
              <a:rPr lang="en-US" sz="1300" dirty="0">
                <a:solidFill>
                  <a:srgbClr val="7DD3FC"/>
                </a:solidFill>
                <a:latin typeface="Consolas" pitchFamily="34" charset="0"/>
                <a:ea typeface="Consolas" pitchFamily="34" charset="-122"/>
                <a:cs typeface="Consolas" pitchFamily="34" charset="-120"/>
              </a:rPr>
              <a:t>  "status": </a:t>
            </a:r>
            <a:r>
              <a:rPr lang="en-US" sz="1300" dirty="0">
                <a:solidFill>
                  <a:srgbClr val="86EFAC"/>
                </a:solidFill>
                <a:latin typeface="Consolas" pitchFamily="34" charset="0"/>
                <a:ea typeface="Consolas" pitchFamily="34" charset="-122"/>
                <a:cs typeface="Consolas" pitchFamily="34" charset="-120"/>
              </a:rPr>
              <a:t>"Submitted"</a:t>
            </a:r>
            <a:endParaRPr lang="en-US" sz="1300" dirty="0"/>
          </a:p>
        </p:txBody>
      </p:sp>
      <p:sp>
        <p:nvSpPr>
          <p:cNvPr id="16" name="Text 14"/>
          <p:cNvSpPr/>
          <p:nvPr/>
        </p:nvSpPr>
        <p:spPr>
          <a:xfrm>
            <a:off x="548640" y="3950208"/>
            <a:ext cx="4572000" cy="36576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a:t>
            </a:r>
            <a:endParaRPr lang="en-US" sz="1300" dirty="0"/>
          </a:p>
        </p:txBody>
      </p:sp>
      <p:sp>
        <p:nvSpPr>
          <p:cNvPr id="17" name="Shape 15"/>
          <p:cNvSpPr/>
          <p:nvPr/>
        </p:nvSpPr>
        <p:spPr>
          <a:xfrm>
            <a:off x="5577840" y="868680"/>
            <a:ext cx="3200400" cy="39319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6"/>
          <p:cNvSpPr/>
          <p:nvPr/>
        </p:nvSpPr>
        <p:spPr>
          <a:xfrm>
            <a:off x="5577840" y="914400"/>
            <a:ext cx="3200400" cy="411480"/>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Benefits</a:t>
            </a:r>
            <a:endParaRPr lang="en-US" sz="1600" dirty="0"/>
          </a:p>
        </p:txBody>
      </p:sp>
      <p:sp>
        <p:nvSpPr>
          <p:cNvPr id="19" name="Text 17"/>
          <p:cNvSpPr/>
          <p:nvPr/>
        </p:nvSpPr>
        <p:spPr>
          <a:xfrm>
            <a:off x="5669280" y="150876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0" name="Text 18"/>
          <p:cNvSpPr/>
          <p:nvPr/>
        </p:nvSpPr>
        <p:spPr>
          <a:xfrm>
            <a:off x="6309360" y="1508760"/>
            <a:ext cx="2331720" cy="27432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Standardized Format</a:t>
            </a:r>
            <a:endParaRPr lang="en-US" sz="1300" dirty="0"/>
          </a:p>
        </p:txBody>
      </p:sp>
      <p:sp>
        <p:nvSpPr>
          <p:cNvPr id="21" name="Text 19"/>
          <p:cNvSpPr/>
          <p:nvPr/>
        </p:nvSpPr>
        <p:spPr>
          <a:xfrm>
            <a:off x="6309360" y="1801368"/>
            <a:ext cx="233172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Consistent structure across all requests</a:t>
            </a:r>
            <a:endParaRPr lang="en-US" sz="1200" dirty="0"/>
          </a:p>
        </p:txBody>
      </p:sp>
      <p:sp>
        <p:nvSpPr>
          <p:cNvPr id="22" name="Text 20"/>
          <p:cNvSpPr/>
          <p:nvPr/>
        </p:nvSpPr>
        <p:spPr>
          <a:xfrm>
            <a:off x="5669280" y="2587752"/>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3" name="Text 21"/>
          <p:cNvSpPr/>
          <p:nvPr/>
        </p:nvSpPr>
        <p:spPr>
          <a:xfrm>
            <a:off x="6309360" y="2587752"/>
            <a:ext cx="2331720" cy="27432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Easy Tracking</a:t>
            </a:r>
            <a:endParaRPr lang="en-US" sz="1300" dirty="0"/>
          </a:p>
        </p:txBody>
      </p:sp>
      <p:sp>
        <p:nvSpPr>
          <p:cNvPr id="24" name="Text 22"/>
          <p:cNvSpPr/>
          <p:nvPr/>
        </p:nvSpPr>
        <p:spPr>
          <a:xfrm>
            <a:off x="6309360" y="2880360"/>
            <a:ext cx="233172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Unique request IDs for follow-up</a:t>
            </a:r>
            <a:endParaRPr lang="en-US" sz="1200" dirty="0"/>
          </a:p>
        </p:txBody>
      </p:sp>
      <p:sp>
        <p:nvSpPr>
          <p:cNvPr id="25" name="Text 23"/>
          <p:cNvSpPr/>
          <p:nvPr/>
        </p:nvSpPr>
        <p:spPr>
          <a:xfrm>
            <a:off x="5669280" y="3666744"/>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6" name="Text 24"/>
          <p:cNvSpPr/>
          <p:nvPr/>
        </p:nvSpPr>
        <p:spPr>
          <a:xfrm>
            <a:off x="6309360" y="3666744"/>
            <a:ext cx="2331720" cy="274320"/>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Database Ready</a:t>
            </a:r>
            <a:endParaRPr lang="en-US" sz="1300" dirty="0"/>
          </a:p>
        </p:txBody>
      </p:sp>
      <p:sp>
        <p:nvSpPr>
          <p:cNvPr id="27" name="Text 25"/>
          <p:cNvSpPr/>
          <p:nvPr/>
        </p:nvSpPr>
        <p:spPr>
          <a:xfrm>
            <a:off x="6309360" y="3959352"/>
            <a:ext cx="233172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Directly insertable into SQLite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Database Storage</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365760" y="822960"/>
            <a:ext cx="8412480" cy="457200"/>
          </a:xfrm>
          <a:prstGeom prst="rect">
            <a:avLst/>
          </a:prstGeom>
          <a:solidFill>
            <a:srgbClr val="0D1B2A"/>
          </a:solidFill>
          <a:ln w="12700">
            <a:solidFill>
              <a:srgbClr val="0D1B2A"/>
            </a:solidFill>
            <a:prstDash val="solid"/>
          </a:ln>
        </p:spPr>
        <p:txBody>
          <a:bodyPr/>
          <a:lstStyle/>
          <a:p>
            <a:endParaRPr lang="en-IN"/>
          </a:p>
        </p:txBody>
      </p:sp>
      <p:sp>
        <p:nvSpPr>
          <p:cNvPr id="6" name="Text 4"/>
          <p:cNvSpPr/>
          <p:nvPr/>
        </p:nvSpPr>
        <p:spPr>
          <a:xfrm>
            <a:off x="457200" y="822960"/>
            <a:ext cx="19202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Request ID</a:t>
            </a:r>
            <a:endParaRPr lang="en-US" sz="1200" dirty="0"/>
          </a:p>
        </p:txBody>
      </p:sp>
      <p:sp>
        <p:nvSpPr>
          <p:cNvPr id="7" name="Text 5"/>
          <p:cNvSpPr/>
          <p:nvPr/>
        </p:nvSpPr>
        <p:spPr>
          <a:xfrm>
            <a:off x="2423160" y="82296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Employee ID</a:t>
            </a:r>
            <a:endParaRPr lang="en-US" sz="1200" dirty="0"/>
          </a:p>
        </p:txBody>
      </p:sp>
      <p:sp>
        <p:nvSpPr>
          <p:cNvPr id="8" name="Text 6"/>
          <p:cNvSpPr/>
          <p:nvPr/>
        </p:nvSpPr>
        <p:spPr>
          <a:xfrm>
            <a:off x="3931920" y="822960"/>
            <a:ext cx="13716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Asset Type</a:t>
            </a:r>
            <a:endParaRPr lang="en-US" sz="1200" dirty="0"/>
          </a:p>
        </p:txBody>
      </p:sp>
      <p:sp>
        <p:nvSpPr>
          <p:cNvPr id="9" name="Text 7"/>
          <p:cNvSpPr/>
          <p:nvPr/>
        </p:nvSpPr>
        <p:spPr>
          <a:xfrm>
            <a:off x="5349240" y="822960"/>
            <a:ext cx="2103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Asset Name</a:t>
            </a:r>
            <a:endParaRPr lang="en-US" sz="1200" dirty="0"/>
          </a:p>
        </p:txBody>
      </p:sp>
      <p:sp>
        <p:nvSpPr>
          <p:cNvPr id="10" name="Text 8"/>
          <p:cNvSpPr/>
          <p:nvPr/>
        </p:nvSpPr>
        <p:spPr>
          <a:xfrm>
            <a:off x="7498080" y="822960"/>
            <a:ext cx="12801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Status</a:t>
            </a:r>
            <a:endParaRPr lang="en-US" sz="1200" dirty="0"/>
          </a:p>
        </p:txBody>
      </p:sp>
      <p:sp>
        <p:nvSpPr>
          <p:cNvPr id="11" name="Shape 9"/>
          <p:cNvSpPr/>
          <p:nvPr/>
        </p:nvSpPr>
        <p:spPr>
          <a:xfrm>
            <a:off x="365760" y="1280160"/>
            <a:ext cx="8412480" cy="475488"/>
          </a:xfrm>
          <a:prstGeom prst="rect">
            <a:avLst/>
          </a:prstGeom>
          <a:solidFill>
            <a:srgbClr val="FFFFFF"/>
          </a:solidFill>
          <a:ln w="12700">
            <a:solidFill>
              <a:srgbClr val="E8EEF4"/>
            </a:solidFill>
            <a:prstDash val="solid"/>
          </a:ln>
        </p:spPr>
        <p:txBody>
          <a:bodyPr/>
          <a:lstStyle/>
          <a:p>
            <a:endParaRPr lang="en-IN"/>
          </a:p>
        </p:txBody>
      </p:sp>
      <p:sp>
        <p:nvSpPr>
          <p:cNvPr id="12" name="Text 10"/>
          <p:cNvSpPr/>
          <p:nvPr/>
        </p:nvSpPr>
        <p:spPr>
          <a:xfrm>
            <a:off x="457200" y="1280160"/>
            <a:ext cx="19202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AR-C9888B33</a:t>
            </a:r>
            <a:endParaRPr lang="en-US" sz="1200" dirty="0"/>
          </a:p>
        </p:txBody>
      </p:sp>
      <p:sp>
        <p:nvSpPr>
          <p:cNvPr id="13" name="Text 11"/>
          <p:cNvSpPr/>
          <p:nvPr/>
        </p:nvSpPr>
        <p:spPr>
          <a:xfrm>
            <a:off x="2423160" y="1280160"/>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EMP1001</a:t>
            </a:r>
            <a:endParaRPr lang="en-US" sz="1200" dirty="0"/>
          </a:p>
        </p:txBody>
      </p:sp>
      <p:sp>
        <p:nvSpPr>
          <p:cNvPr id="14" name="Text 12"/>
          <p:cNvSpPr/>
          <p:nvPr/>
        </p:nvSpPr>
        <p:spPr>
          <a:xfrm>
            <a:off x="3931920" y="1280160"/>
            <a:ext cx="137160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Laptop</a:t>
            </a:r>
            <a:endParaRPr lang="en-US" sz="1200" dirty="0"/>
          </a:p>
        </p:txBody>
      </p:sp>
      <p:sp>
        <p:nvSpPr>
          <p:cNvPr id="15" name="Text 13"/>
          <p:cNvSpPr/>
          <p:nvPr/>
        </p:nvSpPr>
        <p:spPr>
          <a:xfrm>
            <a:off x="5349240" y="1280160"/>
            <a:ext cx="210312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Dell Latitude 5440</a:t>
            </a:r>
            <a:endParaRPr lang="en-US" sz="1200" dirty="0"/>
          </a:p>
        </p:txBody>
      </p:sp>
      <p:sp>
        <p:nvSpPr>
          <p:cNvPr id="16" name="Shape 14"/>
          <p:cNvSpPr/>
          <p:nvPr/>
        </p:nvSpPr>
        <p:spPr>
          <a:xfrm>
            <a:off x="7589520" y="1399032"/>
            <a:ext cx="1005840" cy="237744"/>
          </a:xfrm>
          <a:prstGeom prst="roundRect">
            <a:avLst>
              <a:gd name="adj" fmla="val 19231"/>
            </a:avLst>
          </a:prstGeom>
          <a:solidFill>
            <a:srgbClr val="3B82F6">
              <a:alpha val="20000"/>
            </a:srgbClr>
          </a:solidFill>
          <a:ln w="12700">
            <a:solidFill>
              <a:srgbClr val="3B82F6"/>
            </a:solidFill>
            <a:prstDash val="solid"/>
          </a:ln>
        </p:spPr>
        <p:txBody>
          <a:bodyPr/>
          <a:lstStyle/>
          <a:p>
            <a:endParaRPr lang="en-IN"/>
          </a:p>
        </p:txBody>
      </p:sp>
      <p:sp>
        <p:nvSpPr>
          <p:cNvPr id="17" name="Text 15"/>
          <p:cNvSpPr/>
          <p:nvPr/>
        </p:nvSpPr>
        <p:spPr>
          <a:xfrm>
            <a:off x="7589520" y="1399032"/>
            <a:ext cx="1005840" cy="237744"/>
          </a:xfrm>
          <a:prstGeom prst="rect">
            <a:avLst/>
          </a:prstGeom>
          <a:noFill/>
          <a:ln/>
        </p:spPr>
        <p:txBody>
          <a:bodyPr wrap="square" lIns="0" tIns="0" rIns="0" bIns="0" rtlCol="0" anchor="ctr"/>
          <a:lstStyle/>
          <a:p>
            <a:pPr marL="0" indent="0" algn="ctr">
              <a:buNone/>
            </a:pPr>
            <a:r>
              <a:rPr lang="en-US" sz="1100" b="1" dirty="0">
                <a:solidFill>
                  <a:srgbClr val="3B82F6"/>
                </a:solidFill>
              </a:rPr>
              <a:t>Submitted</a:t>
            </a:r>
            <a:endParaRPr lang="en-US" sz="1100" dirty="0"/>
          </a:p>
        </p:txBody>
      </p:sp>
      <p:sp>
        <p:nvSpPr>
          <p:cNvPr id="18" name="Shape 16"/>
          <p:cNvSpPr/>
          <p:nvPr/>
        </p:nvSpPr>
        <p:spPr>
          <a:xfrm>
            <a:off x="365760" y="1755648"/>
            <a:ext cx="8412480" cy="475488"/>
          </a:xfrm>
          <a:prstGeom prst="rect">
            <a:avLst/>
          </a:prstGeom>
          <a:solidFill>
            <a:srgbClr val="E8EEF4"/>
          </a:solidFill>
          <a:ln w="12700">
            <a:solidFill>
              <a:srgbClr val="E8EEF4"/>
            </a:solidFill>
            <a:prstDash val="solid"/>
          </a:ln>
        </p:spPr>
        <p:txBody>
          <a:bodyPr/>
          <a:lstStyle/>
          <a:p>
            <a:endParaRPr lang="en-IN"/>
          </a:p>
        </p:txBody>
      </p:sp>
      <p:sp>
        <p:nvSpPr>
          <p:cNvPr id="19" name="Text 17"/>
          <p:cNvSpPr/>
          <p:nvPr/>
        </p:nvSpPr>
        <p:spPr>
          <a:xfrm>
            <a:off x="457200" y="1755648"/>
            <a:ext cx="19202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AR-A1234B56</a:t>
            </a:r>
            <a:endParaRPr lang="en-US" sz="1200" dirty="0"/>
          </a:p>
        </p:txBody>
      </p:sp>
      <p:sp>
        <p:nvSpPr>
          <p:cNvPr id="20" name="Text 18"/>
          <p:cNvSpPr/>
          <p:nvPr/>
        </p:nvSpPr>
        <p:spPr>
          <a:xfrm>
            <a:off x="2423160" y="1755648"/>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EMP1002</a:t>
            </a:r>
            <a:endParaRPr lang="en-US" sz="1200" dirty="0"/>
          </a:p>
        </p:txBody>
      </p:sp>
      <p:sp>
        <p:nvSpPr>
          <p:cNvPr id="21" name="Text 19"/>
          <p:cNvSpPr/>
          <p:nvPr/>
        </p:nvSpPr>
        <p:spPr>
          <a:xfrm>
            <a:off x="3931920" y="1755648"/>
            <a:ext cx="137160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Monitor</a:t>
            </a:r>
            <a:endParaRPr lang="en-US" sz="1200" dirty="0"/>
          </a:p>
        </p:txBody>
      </p:sp>
      <p:sp>
        <p:nvSpPr>
          <p:cNvPr id="22" name="Text 20"/>
          <p:cNvSpPr/>
          <p:nvPr/>
        </p:nvSpPr>
        <p:spPr>
          <a:xfrm>
            <a:off x="5349240" y="1755648"/>
            <a:ext cx="210312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LG UltraWide 27"</a:t>
            </a:r>
            <a:endParaRPr lang="en-US" sz="1200" dirty="0"/>
          </a:p>
        </p:txBody>
      </p:sp>
      <p:sp>
        <p:nvSpPr>
          <p:cNvPr id="23" name="Shape 21"/>
          <p:cNvSpPr/>
          <p:nvPr/>
        </p:nvSpPr>
        <p:spPr>
          <a:xfrm>
            <a:off x="7589520" y="1874520"/>
            <a:ext cx="1005840" cy="237744"/>
          </a:xfrm>
          <a:prstGeom prst="roundRect">
            <a:avLst>
              <a:gd name="adj" fmla="val 19231"/>
            </a:avLst>
          </a:prstGeom>
          <a:solidFill>
            <a:srgbClr val="F59E0B">
              <a:alpha val="20000"/>
            </a:srgbClr>
          </a:solidFill>
          <a:ln w="12700">
            <a:solidFill>
              <a:srgbClr val="F59E0B"/>
            </a:solidFill>
            <a:prstDash val="solid"/>
          </a:ln>
        </p:spPr>
        <p:txBody>
          <a:bodyPr/>
          <a:lstStyle/>
          <a:p>
            <a:endParaRPr lang="en-IN"/>
          </a:p>
        </p:txBody>
      </p:sp>
      <p:sp>
        <p:nvSpPr>
          <p:cNvPr id="24" name="Text 22"/>
          <p:cNvSpPr/>
          <p:nvPr/>
        </p:nvSpPr>
        <p:spPr>
          <a:xfrm>
            <a:off x="7589520" y="1874520"/>
            <a:ext cx="1005840" cy="237744"/>
          </a:xfrm>
          <a:prstGeom prst="rect">
            <a:avLst/>
          </a:prstGeom>
          <a:noFill/>
          <a:ln/>
        </p:spPr>
        <p:txBody>
          <a:bodyPr wrap="square" lIns="0" tIns="0" rIns="0" bIns="0" rtlCol="0" anchor="ctr"/>
          <a:lstStyle/>
          <a:p>
            <a:pPr marL="0" indent="0" algn="ctr">
              <a:buNone/>
            </a:pPr>
            <a:r>
              <a:rPr lang="en-US" sz="1100" b="1" dirty="0">
                <a:solidFill>
                  <a:srgbClr val="F59E0B"/>
                </a:solidFill>
              </a:rPr>
              <a:t>Pending</a:t>
            </a:r>
            <a:endParaRPr lang="en-US" sz="1100" dirty="0"/>
          </a:p>
        </p:txBody>
      </p:sp>
      <p:sp>
        <p:nvSpPr>
          <p:cNvPr id="25" name="Shape 23"/>
          <p:cNvSpPr/>
          <p:nvPr/>
        </p:nvSpPr>
        <p:spPr>
          <a:xfrm>
            <a:off x="365760" y="2231136"/>
            <a:ext cx="8412480" cy="475488"/>
          </a:xfrm>
          <a:prstGeom prst="rect">
            <a:avLst/>
          </a:prstGeom>
          <a:solidFill>
            <a:srgbClr val="FFFFFF"/>
          </a:solidFill>
          <a:ln w="12700">
            <a:solidFill>
              <a:srgbClr val="E8EEF4"/>
            </a:solidFill>
            <a:prstDash val="solid"/>
          </a:ln>
        </p:spPr>
        <p:txBody>
          <a:bodyPr/>
          <a:lstStyle/>
          <a:p>
            <a:endParaRPr lang="en-IN"/>
          </a:p>
        </p:txBody>
      </p:sp>
      <p:sp>
        <p:nvSpPr>
          <p:cNvPr id="26" name="Text 24"/>
          <p:cNvSpPr/>
          <p:nvPr/>
        </p:nvSpPr>
        <p:spPr>
          <a:xfrm>
            <a:off x="457200" y="2231136"/>
            <a:ext cx="19202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AR-D5678C90</a:t>
            </a:r>
            <a:endParaRPr lang="en-US" sz="1200" dirty="0"/>
          </a:p>
        </p:txBody>
      </p:sp>
      <p:sp>
        <p:nvSpPr>
          <p:cNvPr id="27" name="Text 25"/>
          <p:cNvSpPr/>
          <p:nvPr/>
        </p:nvSpPr>
        <p:spPr>
          <a:xfrm>
            <a:off x="2423160" y="2231136"/>
            <a:ext cx="146304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EMP1003</a:t>
            </a:r>
            <a:endParaRPr lang="en-US" sz="1200" dirty="0"/>
          </a:p>
        </p:txBody>
      </p:sp>
      <p:sp>
        <p:nvSpPr>
          <p:cNvPr id="28" name="Text 26"/>
          <p:cNvSpPr/>
          <p:nvPr/>
        </p:nvSpPr>
        <p:spPr>
          <a:xfrm>
            <a:off x="3931920" y="2231136"/>
            <a:ext cx="137160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Keyboard</a:t>
            </a:r>
            <a:endParaRPr lang="en-US" sz="1200" dirty="0"/>
          </a:p>
        </p:txBody>
      </p:sp>
      <p:sp>
        <p:nvSpPr>
          <p:cNvPr id="29" name="Text 27"/>
          <p:cNvSpPr/>
          <p:nvPr/>
        </p:nvSpPr>
        <p:spPr>
          <a:xfrm>
            <a:off x="5349240" y="2231136"/>
            <a:ext cx="2103120" cy="475488"/>
          </a:xfrm>
          <a:prstGeom prst="rect">
            <a:avLst/>
          </a:prstGeom>
          <a:noFill/>
          <a:ln/>
        </p:spPr>
        <p:txBody>
          <a:bodyPr wrap="square" lIns="0" tIns="0" rIns="0" bIns="0" rtlCol="0" anchor="ctr"/>
          <a:lstStyle/>
          <a:p>
            <a:pPr marL="0" indent="0" algn="ctr">
              <a:buNone/>
            </a:pPr>
            <a:r>
              <a:rPr lang="en-US" sz="1200" dirty="0">
                <a:solidFill>
                  <a:srgbClr val="1E293B"/>
                </a:solidFill>
                <a:latin typeface="Calibri" pitchFamily="34" charset="0"/>
                <a:ea typeface="Calibri" pitchFamily="34" charset="-122"/>
                <a:cs typeface="Calibri" pitchFamily="34" charset="-120"/>
              </a:rPr>
              <a:t>Logitech MX Keys</a:t>
            </a:r>
            <a:endParaRPr lang="en-US" sz="1200" dirty="0"/>
          </a:p>
        </p:txBody>
      </p:sp>
      <p:sp>
        <p:nvSpPr>
          <p:cNvPr id="30" name="Shape 28"/>
          <p:cNvSpPr/>
          <p:nvPr/>
        </p:nvSpPr>
        <p:spPr>
          <a:xfrm>
            <a:off x="7589520" y="2350008"/>
            <a:ext cx="1005840" cy="237744"/>
          </a:xfrm>
          <a:prstGeom prst="roundRect">
            <a:avLst>
              <a:gd name="adj" fmla="val 19231"/>
            </a:avLst>
          </a:prstGeom>
          <a:solidFill>
            <a:srgbClr val="10B981">
              <a:alpha val="20000"/>
            </a:srgbClr>
          </a:solidFill>
          <a:ln w="12700">
            <a:solidFill>
              <a:srgbClr val="10B981"/>
            </a:solidFill>
            <a:prstDash val="solid"/>
          </a:ln>
        </p:spPr>
        <p:txBody>
          <a:bodyPr/>
          <a:lstStyle/>
          <a:p>
            <a:endParaRPr lang="en-IN"/>
          </a:p>
        </p:txBody>
      </p:sp>
      <p:sp>
        <p:nvSpPr>
          <p:cNvPr id="31" name="Text 29"/>
          <p:cNvSpPr/>
          <p:nvPr/>
        </p:nvSpPr>
        <p:spPr>
          <a:xfrm>
            <a:off x="7589520" y="2350008"/>
            <a:ext cx="1005840" cy="237744"/>
          </a:xfrm>
          <a:prstGeom prst="rect">
            <a:avLst/>
          </a:prstGeom>
          <a:noFill/>
          <a:ln/>
        </p:spPr>
        <p:txBody>
          <a:bodyPr wrap="square" lIns="0" tIns="0" rIns="0" bIns="0" rtlCol="0" anchor="ctr"/>
          <a:lstStyle/>
          <a:p>
            <a:pPr marL="0" indent="0" algn="ctr">
              <a:buNone/>
            </a:pPr>
            <a:r>
              <a:rPr lang="en-US" sz="1100" b="1" dirty="0">
                <a:solidFill>
                  <a:srgbClr val="10B981"/>
                </a:solidFill>
              </a:rPr>
              <a:t>Approved</a:t>
            </a:r>
            <a:endParaRPr lang="en-US" sz="1100" dirty="0"/>
          </a:p>
        </p:txBody>
      </p:sp>
      <p:sp>
        <p:nvSpPr>
          <p:cNvPr id="32" name="Shape 30"/>
          <p:cNvSpPr/>
          <p:nvPr/>
        </p:nvSpPr>
        <p:spPr>
          <a:xfrm>
            <a:off x="365760" y="2834640"/>
            <a:ext cx="8412480" cy="196596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33" name="Text 31"/>
          <p:cNvSpPr/>
          <p:nvPr/>
        </p:nvSpPr>
        <p:spPr>
          <a:xfrm>
            <a:off x="548640" y="2907792"/>
            <a:ext cx="2743200" cy="320040"/>
          </a:xfrm>
          <a:prstGeom prst="rect">
            <a:avLst/>
          </a:prstGeom>
          <a:noFill/>
          <a:ln/>
        </p:spPr>
        <p:txBody>
          <a:bodyPr wrap="square" lIns="0" tIns="0" rIns="0" bIns="0" rtlCol="0" anchor="ctr"/>
          <a:lstStyle/>
          <a:p>
            <a:pPr marL="0" indent="0">
              <a:buNone/>
            </a:pPr>
            <a:r>
              <a:rPr lang="en-US" sz="1400" b="1" dirty="0">
                <a:solidFill>
                  <a:srgbClr val="0D1B2A"/>
                </a:solidFill>
                <a:latin typeface="Trebuchet MS" pitchFamily="34" charset="0"/>
                <a:ea typeface="Trebuchet MS" pitchFamily="34" charset="-122"/>
                <a:cs typeface="Trebuchet MS" pitchFamily="34" charset="-120"/>
              </a:rPr>
              <a:t>Key Features</a:t>
            </a:r>
            <a:endParaRPr lang="en-US" sz="1400" dirty="0"/>
          </a:p>
        </p:txBody>
      </p:sp>
      <p:sp>
        <p:nvSpPr>
          <p:cNvPr id="34" name="Text 32"/>
          <p:cNvSpPr/>
          <p:nvPr/>
        </p:nvSpPr>
        <p:spPr>
          <a:xfrm>
            <a:off x="502920" y="3291840"/>
            <a:ext cx="45720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5" name="Text 33"/>
          <p:cNvSpPr/>
          <p:nvPr/>
        </p:nvSpPr>
        <p:spPr>
          <a:xfrm>
            <a:off x="1005840" y="3310128"/>
            <a:ext cx="210312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Permanent Storage</a:t>
            </a:r>
            <a:endParaRPr lang="en-US" sz="1300" dirty="0"/>
          </a:p>
        </p:txBody>
      </p:sp>
      <p:sp>
        <p:nvSpPr>
          <p:cNvPr id="36" name="Text 34"/>
          <p:cNvSpPr/>
          <p:nvPr/>
        </p:nvSpPr>
        <p:spPr>
          <a:xfrm>
            <a:off x="1005840" y="3584448"/>
            <a:ext cx="210312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Requests persist across sessions</a:t>
            </a:r>
            <a:endParaRPr lang="en-US" sz="1200" dirty="0"/>
          </a:p>
        </p:txBody>
      </p:sp>
      <p:sp>
        <p:nvSpPr>
          <p:cNvPr id="37" name="Text 35"/>
          <p:cNvSpPr/>
          <p:nvPr/>
        </p:nvSpPr>
        <p:spPr>
          <a:xfrm>
            <a:off x="3291840" y="3291840"/>
            <a:ext cx="45720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8" name="Text 36"/>
          <p:cNvSpPr/>
          <p:nvPr/>
        </p:nvSpPr>
        <p:spPr>
          <a:xfrm>
            <a:off x="3794760" y="3310128"/>
            <a:ext cx="210312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Request History</a:t>
            </a:r>
            <a:endParaRPr lang="en-US" sz="1300" dirty="0"/>
          </a:p>
        </p:txBody>
      </p:sp>
      <p:sp>
        <p:nvSpPr>
          <p:cNvPr id="39" name="Text 37"/>
          <p:cNvSpPr/>
          <p:nvPr/>
        </p:nvSpPr>
        <p:spPr>
          <a:xfrm>
            <a:off x="3794760" y="3584448"/>
            <a:ext cx="210312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Full audit trail per employee</a:t>
            </a:r>
            <a:endParaRPr lang="en-US" sz="1200" dirty="0"/>
          </a:p>
        </p:txBody>
      </p:sp>
      <p:sp>
        <p:nvSpPr>
          <p:cNvPr id="40" name="Text 38"/>
          <p:cNvSpPr/>
          <p:nvPr/>
        </p:nvSpPr>
        <p:spPr>
          <a:xfrm>
            <a:off x="6080760" y="3291840"/>
            <a:ext cx="45720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1" name="Text 39"/>
          <p:cNvSpPr/>
          <p:nvPr/>
        </p:nvSpPr>
        <p:spPr>
          <a:xfrm>
            <a:off x="6583680" y="3310128"/>
            <a:ext cx="2103120" cy="256032"/>
          </a:xfrm>
          <a:prstGeom prst="rect">
            <a:avLst/>
          </a:prstGeom>
          <a:noFill/>
          <a:ln/>
        </p:spPr>
        <p:txBody>
          <a:bodyPr wrap="square" lIns="0" tIns="0" rIns="0" bIns="0" rtlCol="0" anchor="ctr"/>
          <a:lstStyle/>
          <a:p>
            <a:pPr marL="0" indent="0">
              <a:buNone/>
            </a:pPr>
            <a:r>
              <a:rPr lang="en-US" sz="1300" b="1" dirty="0">
                <a:solidFill>
                  <a:srgbClr val="0D1B2A"/>
                </a:solidFill>
                <a:latin typeface="Trebuchet MS" pitchFamily="34" charset="0"/>
                <a:ea typeface="Trebuchet MS" pitchFamily="34" charset="-122"/>
                <a:cs typeface="Trebuchet MS" pitchFamily="34" charset="-120"/>
              </a:rPr>
              <a:t>Easy Retrieval</a:t>
            </a:r>
            <a:endParaRPr lang="en-US" sz="1300" dirty="0"/>
          </a:p>
        </p:txBody>
      </p:sp>
      <p:sp>
        <p:nvSpPr>
          <p:cNvPr id="42" name="Text 40"/>
          <p:cNvSpPr/>
          <p:nvPr/>
        </p:nvSpPr>
        <p:spPr>
          <a:xfrm>
            <a:off x="6583680" y="3584448"/>
            <a:ext cx="2103120" cy="2743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Use /requests to list all submissions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Workflow Demo</a:t>
            </a:r>
            <a:endParaRPr lang="en-US" sz="2600" dirty="0"/>
          </a:p>
        </p:txBody>
      </p:sp>
      <p:sp>
        <p:nvSpPr>
          <p:cNvPr id="4" name="Shape 2"/>
          <p:cNvSpPr/>
          <p:nvPr/>
        </p:nvSpPr>
        <p:spPr>
          <a:xfrm>
            <a:off x="365760" y="868680"/>
            <a:ext cx="1993392" cy="1828800"/>
          </a:xfrm>
          <a:prstGeom prst="rect">
            <a:avLst/>
          </a:prstGeom>
          <a:solidFill>
            <a:srgbClr val="1E3A5F"/>
          </a:solidFill>
          <a:ln w="12700">
            <a:solidFill>
              <a:srgbClr val="00B4D8"/>
            </a:solidFill>
            <a:prstDash val="solid"/>
          </a:ln>
        </p:spPr>
        <p:txBody>
          <a:bodyPr/>
          <a:lstStyle/>
          <a:p>
            <a:endParaRPr lang="en-IN"/>
          </a:p>
        </p:txBody>
      </p:sp>
      <p:sp>
        <p:nvSpPr>
          <p:cNvPr id="5" name="Shape 3"/>
          <p:cNvSpPr/>
          <p:nvPr/>
        </p:nvSpPr>
        <p:spPr>
          <a:xfrm>
            <a:off x="1078992" y="978408"/>
            <a:ext cx="566928" cy="566928"/>
          </a:xfrm>
          <a:prstGeom prst="ellipse">
            <a:avLst/>
          </a:prstGeom>
          <a:solidFill>
            <a:srgbClr val="00B4D8"/>
          </a:solidFill>
          <a:ln w="12700">
            <a:solidFill>
              <a:srgbClr val="00B4D8"/>
            </a:solidFill>
            <a:prstDash val="solid"/>
          </a:ln>
        </p:spPr>
        <p:txBody>
          <a:bodyPr/>
          <a:lstStyle/>
          <a:p>
            <a:endParaRPr lang="en-IN"/>
          </a:p>
        </p:txBody>
      </p:sp>
      <p:sp>
        <p:nvSpPr>
          <p:cNvPr id="6" name="Text 4"/>
          <p:cNvSpPr/>
          <p:nvPr/>
        </p:nvSpPr>
        <p:spPr>
          <a:xfrm>
            <a:off x="1078992" y="978408"/>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7" name="Shape 5"/>
          <p:cNvSpPr/>
          <p:nvPr/>
        </p:nvSpPr>
        <p:spPr>
          <a:xfrm>
            <a:off x="1828800" y="1435608"/>
            <a:ext cx="274320" cy="274320"/>
          </a:xfrm>
          <a:prstGeom prst="ellipse">
            <a:avLst/>
          </a:prstGeom>
          <a:solidFill>
            <a:srgbClr val="0D1B2A"/>
          </a:solidFill>
          <a:ln w="12700">
            <a:solidFill>
              <a:srgbClr val="90E0EF"/>
            </a:solidFill>
            <a:prstDash val="solid"/>
          </a:ln>
        </p:spPr>
        <p:txBody>
          <a:bodyPr/>
          <a:lstStyle/>
          <a:p>
            <a:endParaRPr lang="en-IN"/>
          </a:p>
        </p:txBody>
      </p:sp>
      <p:sp>
        <p:nvSpPr>
          <p:cNvPr id="8" name="Text 6"/>
          <p:cNvSpPr/>
          <p:nvPr/>
        </p:nvSpPr>
        <p:spPr>
          <a:xfrm>
            <a:off x="1828800" y="1435608"/>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1</a:t>
            </a:r>
            <a:endParaRPr lang="en-US" sz="1000" dirty="0"/>
          </a:p>
        </p:txBody>
      </p:sp>
      <p:sp>
        <p:nvSpPr>
          <p:cNvPr id="9" name="Text 7"/>
          <p:cNvSpPr/>
          <p:nvPr/>
        </p:nvSpPr>
        <p:spPr>
          <a:xfrm>
            <a:off x="457200" y="1673352"/>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Start Bot</a:t>
            </a:r>
            <a:endParaRPr lang="en-US" sz="1300" dirty="0"/>
          </a:p>
        </p:txBody>
      </p:sp>
      <p:sp>
        <p:nvSpPr>
          <p:cNvPr id="10" name="Text 8"/>
          <p:cNvSpPr/>
          <p:nvPr/>
        </p:nvSpPr>
        <p:spPr>
          <a:xfrm>
            <a:off x="457200" y="2057400"/>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User initiates /start</a:t>
            </a:r>
            <a:endParaRPr lang="en-US" sz="1100" dirty="0"/>
          </a:p>
        </p:txBody>
      </p:sp>
      <p:sp>
        <p:nvSpPr>
          <p:cNvPr id="11" name="Shape 9"/>
          <p:cNvSpPr/>
          <p:nvPr/>
        </p:nvSpPr>
        <p:spPr>
          <a:xfrm>
            <a:off x="2542032" y="868680"/>
            <a:ext cx="1993392" cy="1828800"/>
          </a:xfrm>
          <a:prstGeom prst="rect">
            <a:avLst/>
          </a:prstGeom>
          <a:solidFill>
            <a:srgbClr val="1E3A5F"/>
          </a:solidFill>
          <a:ln w="12700">
            <a:solidFill>
              <a:srgbClr val="00B4D8"/>
            </a:solidFill>
            <a:prstDash val="solid"/>
          </a:ln>
        </p:spPr>
        <p:txBody>
          <a:bodyPr/>
          <a:lstStyle/>
          <a:p>
            <a:endParaRPr lang="en-IN"/>
          </a:p>
        </p:txBody>
      </p:sp>
      <p:sp>
        <p:nvSpPr>
          <p:cNvPr id="12" name="Shape 10"/>
          <p:cNvSpPr/>
          <p:nvPr/>
        </p:nvSpPr>
        <p:spPr>
          <a:xfrm>
            <a:off x="3255264" y="978408"/>
            <a:ext cx="566928" cy="566928"/>
          </a:xfrm>
          <a:prstGeom prst="ellipse">
            <a:avLst/>
          </a:prstGeom>
          <a:solidFill>
            <a:srgbClr val="00B4D8"/>
          </a:solidFill>
          <a:ln w="12700">
            <a:solidFill>
              <a:srgbClr val="00B4D8"/>
            </a:solidFill>
            <a:prstDash val="solid"/>
          </a:ln>
        </p:spPr>
        <p:txBody>
          <a:bodyPr/>
          <a:lstStyle/>
          <a:p>
            <a:endParaRPr lang="en-IN"/>
          </a:p>
        </p:txBody>
      </p:sp>
      <p:sp>
        <p:nvSpPr>
          <p:cNvPr id="13" name="Text 11"/>
          <p:cNvSpPr/>
          <p:nvPr/>
        </p:nvSpPr>
        <p:spPr>
          <a:xfrm>
            <a:off x="3255264" y="978408"/>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14" name="Shape 12"/>
          <p:cNvSpPr/>
          <p:nvPr/>
        </p:nvSpPr>
        <p:spPr>
          <a:xfrm>
            <a:off x="4005072" y="1435608"/>
            <a:ext cx="274320" cy="274320"/>
          </a:xfrm>
          <a:prstGeom prst="ellipse">
            <a:avLst/>
          </a:prstGeom>
          <a:solidFill>
            <a:srgbClr val="0D1B2A"/>
          </a:solidFill>
          <a:ln w="12700">
            <a:solidFill>
              <a:srgbClr val="90E0EF"/>
            </a:solidFill>
            <a:prstDash val="solid"/>
          </a:ln>
        </p:spPr>
        <p:txBody>
          <a:bodyPr/>
          <a:lstStyle/>
          <a:p>
            <a:endParaRPr lang="en-IN"/>
          </a:p>
        </p:txBody>
      </p:sp>
      <p:sp>
        <p:nvSpPr>
          <p:cNvPr id="15" name="Text 13"/>
          <p:cNvSpPr/>
          <p:nvPr/>
        </p:nvSpPr>
        <p:spPr>
          <a:xfrm>
            <a:off x="4005072" y="1435608"/>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2</a:t>
            </a:r>
            <a:endParaRPr lang="en-US" sz="1000" dirty="0"/>
          </a:p>
        </p:txBody>
      </p:sp>
      <p:sp>
        <p:nvSpPr>
          <p:cNvPr id="16" name="Text 14"/>
          <p:cNvSpPr/>
          <p:nvPr/>
        </p:nvSpPr>
        <p:spPr>
          <a:xfrm>
            <a:off x="2633472" y="1673352"/>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Employee ID</a:t>
            </a:r>
            <a:endParaRPr lang="en-US" sz="1300" dirty="0"/>
          </a:p>
        </p:txBody>
      </p:sp>
      <p:sp>
        <p:nvSpPr>
          <p:cNvPr id="17" name="Text 15"/>
          <p:cNvSpPr/>
          <p:nvPr/>
        </p:nvSpPr>
        <p:spPr>
          <a:xfrm>
            <a:off x="2633472" y="2057400"/>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Enter EMP ID for validation</a:t>
            </a:r>
            <a:endParaRPr lang="en-US" sz="1100" dirty="0"/>
          </a:p>
        </p:txBody>
      </p:sp>
      <p:sp>
        <p:nvSpPr>
          <p:cNvPr id="18" name="Shape 16"/>
          <p:cNvSpPr/>
          <p:nvPr/>
        </p:nvSpPr>
        <p:spPr>
          <a:xfrm>
            <a:off x="4718304" y="868680"/>
            <a:ext cx="1993392" cy="1828800"/>
          </a:xfrm>
          <a:prstGeom prst="rect">
            <a:avLst/>
          </a:prstGeom>
          <a:solidFill>
            <a:srgbClr val="1E3A5F"/>
          </a:solidFill>
          <a:ln w="12700">
            <a:solidFill>
              <a:srgbClr val="00B4D8"/>
            </a:solidFill>
            <a:prstDash val="solid"/>
          </a:ln>
        </p:spPr>
        <p:txBody>
          <a:bodyPr/>
          <a:lstStyle/>
          <a:p>
            <a:endParaRPr lang="en-IN"/>
          </a:p>
        </p:txBody>
      </p:sp>
      <p:sp>
        <p:nvSpPr>
          <p:cNvPr id="19" name="Shape 17"/>
          <p:cNvSpPr/>
          <p:nvPr/>
        </p:nvSpPr>
        <p:spPr>
          <a:xfrm>
            <a:off x="5431536" y="978408"/>
            <a:ext cx="566928" cy="566928"/>
          </a:xfrm>
          <a:prstGeom prst="ellipse">
            <a:avLst/>
          </a:prstGeom>
          <a:solidFill>
            <a:srgbClr val="00B4D8"/>
          </a:solidFill>
          <a:ln w="12700">
            <a:solidFill>
              <a:srgbClr val="00B4D8"/>
            </a:solidFill>
            <a:prstDash val="solid"/>
          </a:ln>
        </p:spPr>
        <p:txBody>
          <a:bodyPr/>
          <a:lstStyle/>
          <a:p>
            <a:endParaRPr lang="en-IN"/>
          </a:p>
        </p:txBody>
      </p:sp>
      <p:sp>
        <p:nvSpPr>
          <p:cNvPr id="20" name="Text 18"/>
          <p:cNvSpPr/>
          <p:nvPr/>
        </p:nvSpPr>
        <p:spPr>
          <a:xfrm>
            <a:off x="5431536" y="978408"/>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1" name="Shape 19"/>
          <p:cNvSpPr/>
          <p:nvPr/>
        </p:nvSpPr>
        <p:spPr>
          <a:xfrm>
            <a:off x="6181344" y="1435608"/>
            <a:ext cx="274320" cy="274320"/>
          </a:xfrm>
          <a:prstGeom prst="ellipse">
            <a:avLst/>
          </a:prstGeom>
          <a:solidFill>
            <a:srgbClr val="0D1B2A"/>
          </a:solidFill>
          <a:ln w="12700">
            <a:solidFill>
              <a:srgbClr val="90E0EF"/>
            </a:solidFill>
            <a:prstDash val="solid"/>
          </a:ln>
        </p:spPr>
        <p:txBody>
          <a:bodyPr/>
          <a:lstStyle/>
          <a:p>
            <a:endParaRPr lang="en-IN"/>
          </a:p>
        </p:txBody>
      </p:sp>
      <p:sp>
        <p:nvSpPr>
          <p:cNvPr id="22" name="Text 20"/>
          <p:cNvSpPr/>
          <p:nvPr/>
        </p:nvSpPr>
        <p:spPr>
          <a:xfrm>
            <a:off x="6181344" y="1435608"/>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3</a:t>
            </a:r>
            <a:endParaRPr lang="en-US" sz="1000" dirty="0"/>
          </a:p>
        </p:txBody>
      </p:sp>
      <p:sp>
        <p:nvSpPr>
          <p:cNvPr id="23" name="Text 21"/>
          <p:cNvSpPr/>
          <p:nvPr/>
        </p:nvSpPr>
        <p:spPr>
          <a:xfrm>
            <a:off x="4809744" y="1673352"/>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Asset Type</a:t>
            </a:r>
            <a:endParaRPr lang="en-US" sz="1300" dirty="0"/>
          </a:p>
        </p:txBody>
      </p:sp>
      <p:sp>
        <p:nvSpPr>
          <p:cNvPr id="24" name="Text 22"/>
          <p:cNvSpPr/>
          <p:nvPr/>
        </p:nvSpPr>
        <p:spPr>
          <a:xfrm>
            <a:off x="4809744" y="2057400"/>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Laptop / Monitor / Peripherals</a:t>
            </a:r>
            <a:endParaRPr lang="en-US" sz="1100" dirty="0"/>
          </a:p>
        </p:txBody>
      </p:sp>
      <p:sp>
        <p:nvSpPr>
          <p:cNvPr id="25" name="Shape 23"/>
          <p:cNvSpPr/>
          <p:nvPr/>
        </p:nvSpPr>
        <p:spPr>
          <a:xfrm>
            <a:off x="6894576" y="868680"/>
            <a:ext cx="1993392" cy="1828800"/>
          </a:xfrm>
          <a:prstGeom prst="rect">
            <a:avLst/>
          </a:prstGeom>
          <a:solidFill>
            <a:srgbClr val="1E3A5F"/>
          </a:solidFill>
          <a:ln w="12700">
            <a:solidFill>
              <a:srgbClr val="00B4D8"/>
            </a:solidFill>
            <a:prstDash val="solid"/>
          </a:ln>
        </p:spPr>
        <p:txBody>
          <a:bodyPr/>
          <a:lstStyle/>
          <a:p>
            <a:endParaRPr lang="en-IN"/>
          </a:p>
        </p:txBody>
      </p:sp>
      <p:sp>
        <p:nvSpPr>
          <p:cNvPr id="26" name="Shape 24"/>
          <p:cNvSpPr/>
          <p:nvPr/>
        </p:nvSpPr>
        <p:spPr>
          <a:xfrm>
            <a:off x="7607808" y="978408"/>
            <a:ext cx="566928" cy="566928"/>
          </a:xfrm>
          <a:prstGeom prst="ellipse">
            <a:avLst/>
          </a:prstGeom>
          <a:solidFill>
            <a:srgbClr val="00B4D8"/>
          </a:solidFill>
          <a:ln w="12700">
            <a:solidFill>
              <a:srgbClr val="00B4D8"/>
            </a:solidFill>
            <a:prstDash val="solid"/>
          </a:ln>
        </p:spPr>
        <p:txBody>
          <a:bodyPr/>
          <a:lstStyle/>
          <a:p>
            <a:endParaRPr lang="en-IN"/>
          </a:p>
        </p:txBody>
      </p:sp>
      <p:sp>
        <p:nvSpPr>
          <p:cNvPr id="27" name="Text 25"/>
          <p:cNvSpPr/>
          <p:nvPr/>
        </p:nvSpPr>
        <p:spPr>
          <a:xfrm>
            <a:off x="7607808" y="978408"/>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28" name="Shape 26"/>
          <p:cNvSpPr/>
          <p:nvPr/>
        </p:nvSpPr>
        <p:spPr>
          <a:xfrm>
            <a:off x="8357616" y="1435608"/>
            <a:ext cx="274320" cy="274320"/>
          </a:xfrm>
          <a:prstGeom prst="ellipse">
            <a:avLst/>
          </a:prstGeom>
          <a:solidFill>
            <a:srgbClr val="0D1B2A"/>
          </a:solidFill>
          <a:ln w="12700">
            <a:solidFill>
              <a:srgbClr val="90E0EF"/>
            </a:solidFill>
            <a:prstDash val="solid"/>
          </a:ln>
        </p:spPr>
        <p:txBody>
          <a:bodyPr/>
          <a:lstStyle/>
          <a:p>
            <a:endParaRPr lang="en-IN"/>
          </a:p>
        </p:txBody>
      </p:sp>
      <p:sp>
        <p:nvSpPr>
          <p:cNvPr id="29" name="Text 27"/>
          <p:cNvSpPr/>
          <p:nvPr/>
        </p:nvSpPr>
        <p:spPr>
          <a:xfrm>
            <a:off x="8357616" y="1435608"/>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4</a:t>
            </a:r>
            <a:endParaRPr lang="en-US" sz="1000" dirty="0"/>
          </a:p>
        </p:txBody>
      </p:sp>
      <p:sp>
        <p:nvSpPr>
          <p:cNvPr id="30" name="Text 28"/>
          <p:cNvSpPr/>
          <p:nvPr/>
        </p:nvSpPr>
        <p:spPr>
          <a:xfrm>
            <a:off x="6986016" y="1673352"/>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Asset Name</a:t>
            </a:r>
            <a:endParaRPr lang="en-US" sz="1300" dirty="0"/>
          </a:p>
        </p:txBody>
      </p:sp>
      <p:sp>
        <p:nvSpPr>
          <p:cNvPr id="31" name="Text 29"/>
          <p:cNvSpPr/>
          <p:nvPr/>
        </p:nvSpPr>
        <p:spPr>
          <a:xfrm>
            <a:off x="6986016" y="2057400"/>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Specific model requested</a:t>
            </a:r>
            <a:endParaRPr lang="en-US" sz="1100" dirty="0"/>
          </a:p>
        </p:txBody>
      </p:sp>
      <p:sp>
        <p:nvSpPr>
          <p:cNvPr id="32" name="Shape 30"/>
          <p:cNvSpPr/>
          <p:nvPr/>
        </p:nvSpPr>
        <p:spPr>
          <a:xfrm>
            <a:off x="365760" y="2953512"/>
            <a:ext cx="1993392" cy="1828800"/>
          </a:xfrm>
          <a:prstGeom prst="rect">
            <a:avLst/>
          </a:prstGeom>
          <a:solidFill>
            <a:srgbClr val="1E3A5F"/>
          </a:solidFill>
          <a:ln w="12700">
            <a:solidFill>
              <a:srgbClr val="00B4D8"/>
            </a:solidFill>
            <a:prstDash val="solid"/>
          </a:ln>
        </p:spPr>
        <p:txBody>
          <a:bodyPr/>
          <a:lstStyle/>
          <a:p>
            <a:endParaRPr lang="en-IN"/>
          </a:p>
        </p:txBody>
      </p:sp>
      <p:sp>
        <p:nvSpPr>
          <p:cNvPr id="33" name="Shape 31"/>
          <p:cNvSpPr/>
          <p:nvPr/>
        </p:nvSpPr>
        <p:spPr>
          <a:xfrm>
            <a:off x="1078992" y="3063240"/>
            <a:ext cx="566928" cy="566928"/>
          </a:xfrm>
          <a:prstGeom prst="ellipse">
            <a:avLst/>
          </a:prstGeom>
          <a:solidFill>
            <a:srgbClr val="00B4D8"/>
          </a:solidFill>
          <a:ln w="12700">
            <a:solidFill>
              <a:srgbClr val="00B4D8"/>
            </a:solidFill>
            <a:prstDash val="solid"/>
          </a:ln>
        </p:spPr>
        <p:txBody>
          <a:bodyPr/>
          <a:lstStyle/>
          <a:p>
            <a:endParaRPr lang="en-IN"/>
          </a:p>
        </p:txBody>
      </p:sp>
      <p:sp>
        <p:nvSpPr>
          <p:cNvPr id="34" name="Text 32"/>
          <p:cNvSpPr/>
          <p:nvPr/>
        </p:nvSpPr>
        <p:spPr>
          <a:xfrm>
            <a:off x="1078992" y="3063240"/>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5" name="Shape 33"/>
          <p:cNvSpPr/>
          <p:nvPr/>
        </p:nvSpPr>
        <p:spPr>
          <a:xfrm>
            <a:off x="1828800" y="3520440"/>
            <a:ext cx="274320" cy="274320"/>
          </a:xfrm>
          <a:prstGeom prst="ellipse">
            <a:avLst/>
          </a:prstGeom>
          <a:solidFill>
            <a:srgbClr val="0D1B2A"/>
          </a:solidFill>
          <a:ln w="12700">
            <a:solidFill>
              <a:srgbClr val="90E0EF"/>
            </a:solidFill>
            <a:prstDash val="solid"/>
          </a:ln>
        </p:spPr>
        <p:txBody>
          <a:bodyPr/>
          <a:lstStyle/>
          <a:p>
            <a:endParaRPr lang="en-IN"/>
          </a:p>
        </p:txBody>
      </p:sp>
      <p:sp>
        <p:nvSpPr>
          <p:cNvPr id="36" name="Text 34"/>
          <p:cNvSpPr/>
          <p:nvPr/>
        </p:nvSpPr>
        <p:spPr>
          <a:xfrm>
            <a:off x="1828800" y="3520440"/>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5</a:t>
            </a:r>
            <a:endParaRPr lang="en-US" sz="1000" dirty="0"/>
          </a:p>
        </p:txBody>
      </p:sp>
      <p:sp>
        <p:nvSpPr>
          <p:cNvPr id="37" name="Text 35"/>
          <p:cNvSpPr/>
          <p:nvPr/>
        </p:nvSpPr>
        <p:spPr>
          <a:xfrm>
            <a:off x="457200" y="3758184"/>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Justification</a:t>
            </a:r>
            <a:endParaRPr lang="en-US" sz="1300" dirty="0"/>
          </a:p>
        </p:txBody>
      </p:sp>
      <p:sp>
        <p:nvSpPr>
          <p:cNvPr id="38" name="Text 36"/>
          <p:cNvSpPr/>
          <p:nvPr/>
        </p:nvSpPr>
        <p:spPr>
          <a:xfrm>
            <a:off x="457200" y="4142232"/>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Business reason for request</a:t>
            </a:r>
            <a:endParaRPr lang="en-US" sz="1100" dirty="0"/>
          </a:p>
        </p:txBody>
      </p:sp>
      <p:sp>
        <p:nvSpPr>
          <p:cNvPr id="39" name="Shape 37"/>
          <p:cNvSpPr/>
          <p:nvPr/>
        </p:nvSpPr>
        <p:spPr>
          <a:xfrm>
            <a:off x="2542032" y="2953512"/>
            <a:ext cx="1993392" cy="1828800"/>
          </a:xfrm>
          <a:prstGeom prst="rect">
            <a:avLst/>
          </a:prstGeom>
          <a:solidFill>
            <a:srgbClr val="1E3A5F"/>
          </a:solidFill>
          <a:ln w="12700">
            <a:solidFill>
              <a:srgbClr val="00B4D8"/>
            </a:solidFill>
            <a:prstDash val="solid"/>
          </a:ln>
        </p:spPr>
        <p:txBody>
          <a:bodyPr/>
          <a:lstStyle/>
          <a:p>
            <a:endParaRPr lang="en-IN"/>
          </a:p>
        </p:txBody>
      </p:sp>
      <p:sp>
        <p:nvSpPr>
          <p:cNvPr id="40" name="Shape 38"/>
          <p:cNvSpPr/>
          <p:nvPr/>
        </p:nvSpPr>
        <p:spPr>
          <a:xfrm>
            <a:off x="3255264" y="3063240"/>
            <a:ext cx="566928" cy="566928"/>
          </a:xfrm>
          <a:prstGeom prst="ellipse">
            <a:avLst/>
          </a:prstGeom>
          <a:solidFill>
            <a:srgbClr val="00B4D8"/>
          </a:solidFill>
          <a:ln w="12700">
            <a:solidFill>
              <a:srgbClr val="00B4D8"/>
            </a:solidFill>
            <a:prstDash val="solid"/>
          </a:ln>
        </p:spPr>
        <p:txBody>
          <a:bodyPr/>
          <a:lstStyle/>
          <a:p>
            <a:endParaRPr lang="en-IN"/>
          </a:p>
        </p:txBody>
      </p:sp>
      <p:sp>
        <p:nvSpPr>
          <p:cNvPr id="41" name="Text 39"/>
          <p:cNvSpPr/>
          <p:nvPr/>
        </p:nvSpPr>
        <p:spPr>
          <a:xfrm>
            <a:off x="3255264" y="3063240"/>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2" name="Shape 40"/>
          <p:cNvSpPr/>
          <p:nvPr/>
        </p:nvSpPr>
        <p:spPr>
          <a:xfrm>
            <a:off x="4005072" y="3520440"/>
            <a:ext cx="274320" cy="274320"/>
          </a:xfrm>
          <a:prstGeom prst="ellipse">
            <a:avLst/>
          </a:prstGeom>
          <a:solidFill>
            <a:srgbClr val="0D1B2A"/>
          </a:solidFill>
          <a:ln w="12700">
            <a:solidFill>
              <a:srgbClr val="90E0EF"/>
            </a:solidFill>
            <a:prstDash val="solid"/>
          </a:ln>
        </p:spPr>
        <p:txBody>
          <a:bodyPr/>
          <a:lstStyle/>
          <a:p>
            <a:endParaRPr lang="en-IN"/>
          </a:p>
        </p:txBody>
      </p:sp>
      <p:sp>
        <p:nvSpPr>
          <p:cNvPr id="43" name="Text 41"/>
          <p:cNvSpPr/>
          <p:nvPr/>
        </p:nvSpPr>
        <p:spPr>
          <a:xfrm>
            <a:off x="4005072" y="3520440"/>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6</a:t>
            </a:r>
            <a:endParaRPr lang="en-US" sz="1000" dirty="0"/>
          </a:p>
        </p:txBody>
      </p:sp>
      <p:sp>
        <p:nvSpPr>
          <p:cNvPr id="44" name="Text 42"/>
          <p:cNvSpPr/>
          <p:nvPr/>
        </p:nvSpPr>
        <p:spPr>
          <a:xfrm>
            <a:off x="2633472" y="3758184"/>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Validation</a:t>
            </a:r>
            <a:endParaRPr lang="en-US" sz="1300" dirty="0"/>
          </a:p>
        </p:txBody>
      </p:sp>
      <p:sp>
        <p:nvSpPr>
          <p:cNvPr id="45" name="Text 43"/>
          <p:cNvSpPr/>
          <p:nvPr/>
        </p:nvSpPr>
        <p:spPr>
          <a:xfrm>
            <a:off x="2633472" y="4142232"/>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HRIS lookup and verification</a:t>
            </a:r>
            <a:endParaRPr lang="en-US" sz="1100" dirty="0"/>
          </a:p>
        </p:txBody>
      </p:sp>
      <p:sp>
        <p:nvSpPr>
          <p:cNvPr id="46" name="Shape 44"/>
          <p:cNvSpPr/>
          <p:nvPr/>
        </p:nvSpPr>
        <p:spPr>
          <a:xfrm>
            <a:off x="4718304" y="2953512"/>
            <a:ext cx="1993392" cy="1828800"/>
          </a:xfrm>
          <a:prstGeom prst="rect">
            <a:avLst/>
          </a:prstGeom>
          <a:solidFill>
            <a:srgbClr val="1E3A5F"/>
          </a:solidFill>
          <a:ln w="12700">
            <a:solidFill>
              <a:srgbClr val="00B4D8"/>
            </a:solidFill>
            <a:prstDash val="solid"/>
          </a:ln>
        </p:spPr>
        <p:txBody>
          <a:bodyPr/>
          <a:lstStyle/>
          <a:p>
            <a:endParaRPr lang="en-IN"/>
          </a:p>
        </p:txBody>
      </p:sp>
      <p:sp>
        <p:nvSpPr>
          <p:cNvPr id="47" name="Shape 45"/>
          <p:cNvSpPr/>
          <p:nvPr/>
        </p:nvSpPr>
        <p:spPr>
          <a:xfrm>
            <a:off x="5431536" y="3063240"/>
            <a:ext cx="566928" cy="566928"/>
          </a:xfrm>
          <a:prstGeom prst="ellipse">
            <a:avLst/>
          </a:prstGeom>
          <a:solidFill>
            <a:srgbClr val="00B4D8"/>
          </a:solidFill>
          <a:ln w="12700">
            <a:solidFill>
              <a:srgbClr val="00B4D8"/>
            </a:solidFill>
            <a:prstDash val="solid"/>
          </a:ln>
        </p:spPr>
        <p:txBody>
          <a:bodyPr/>
          <a:lstStyle/>
          <a:p>
            <a:endParaRPr lang="en-IN"/>
          </a:p>
        </p:txBody>
      </p:sp>
      <p:sp>
        <p:nvSpPr>
          <p:cNvPr id="48" name="Text 46"/>
          <p:cNvSpPr/>
          <p:nvPr/>
        </p:nvSpPr>
        <p:spPr>
          <a:xfrm>
            <a:off x="5431536" y="3063240"/>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9" name="Shape 47"/>
          <p:cNvSpPr/>
          <p:nvPr/>
        </p:nvSpPr>
        <p:spPr>
          <a:xfrm>
            <a:off x="6181344" y="3520440"/>
            <a:ext cx="274320" cy="274320"/>
          </a:xfrm>
          <a:prstGeom prst="ellipse">
            <a:avLst/>
          </a:prstGeom>
          <a:solidFill>
            <a:srgbClr val="0D1B2A"/>
          </a:solidFill>
          <a:ln w="12700">
            <a:solidFill>
              <a:srgbClr val="90E0EF"/>
            </a:solidFill>
            <a:prstDash val="solid"/>
          </a:ln>
        </p:spPr>
        <p:txBody>
          <a:bodyPr/>
          <a:lstStyle/>
          <a:p>
            <a:endParaRPr lang="en-IN"/>
          </a:p>
        </p:txBody>
      </p:sp>
      <p:sp>
        <p:nvSpPr>
          <p:cNvPr id="50" name="Text 48"/>
          <p:cNvSpPr/>
          <p:nvPr/>
        </p:nvSpPr>
        <p:spPr>
          <a:xfrm>
            <a:off x="6181344" y="3520440"/>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7</a:t>
            </a:r>
            <a:endParaRPr lang="en-US" sz="1000" dirty="0"/>
          </a:p>
        </p:txBody>
      </p:sp>
      <p:sp>
        <p:nvSpPr>
          <p:cNvPr id="51" name="Text 49"/>
          <p:cNvSpPr/>
          <p:nvPr/>
        </p:nvSpPr>
        <p:spPr>
          <a:xfrm>
            <a:off x="4809744" y="3758184"/>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Generate Request</a:t>
            </a:r>
            <a:endParaRPr lang="en-US" sz="1300" dirty="0"/>
          </a:p>
        </p:txBody>
      </p:sp>
      <p:sp>
        <p:nvSpPr>
          <p:cNvPr id="52" name="Text 50"/>
          <p:cNvSpPr/>
          <p:nvPr/>
        </p:nvSpPr>
        <p:spPr>
          <a:xfrm>
            <a:off x="4809744" y="4142232"/>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Structured JSON with unique ID</a:t>
            </a:r>
            <a:endParaRPr lang="en-US" sz="1100" dirty="0"/>
          </a:p>
        </p:txBody>
      </p:sp>
      <p:sp>
        <p:nvSpPr>
          <p:cNvPr id="53" name="Shape 51"/>
          <p:cNvSpPr/>
          <p:nvPr/>
        </p:nvSpPr>
        <p:spPr>
          <a:xfrm>
            <a:off x="6894576" y="2953512"/>
            <a:ext cx="1993392" cy="1828800"/>
          </a:xfrm>
          <a:prstGeom prst="rect">
            <a:avLst/>
          </a:prstGeom>
          <a:solidFill>
            <a:srgbClr val="1E3A5F"/>
          </a:solidFill>
          <a:ln w="12700">
            <a:solidFill>
              <a:srgbClr val="00B4D8"/>
            </a:solidFill>
            <a:prstDash val="solid"/>
          </a:ln>
        </p:spPr>
        <p:txBody>
          <a:bodyPr/>
          <a:lstStyle/>
          <a:p>
            <a:endParaRPr lang="en-IN"/>
          </a:p>
        </p:txBody>
      </p:sp>
      <p:sp>
        <p:nvSpPr>
          <p:cNvPr id="54" name="Shape 52"/>
          <p:cNvSpPr/>
          <p:nvPr/>
        </p:nvSpPr>
        <p:spPr>
          <a:xfrm>
            <a:off x="7607808" y="3063240"/>
            <a:ext cx="566928" cy="566928"/>
          </a:xfrm>
          <a:prstGeom prst="ellipse">
            <a:avLst/>
          </a:prstGeom>
          <a:solidFill>
            <a:srgbClr val="00B4D8"/>
          </a:solidFill>
          <a:ln w="12700">
            <a:solidFill>
              <a:srgbClr val="00B4D8"/>
            </a:solidFill>
            <a:prstDash val="solid"/>
          </a:ln>
        </p:spPr>
        <p:txBody>
          <a:bodyPr/>
          <a:lstStyle/>
          <a:p>
            <a:endParaRPr lang="en-IN"/>
          </a:p>
        </p:txBody>
      </p:sp>
      <p:sp>
        <p:nvSpPr>
          <p:cNvPr id="55" name="Text 53"/>
          <p:cNvSpPr/>
          <p:nvPr/>
        </p:nvSpPr>
        <p:spPr>
          <a:xfrm>
            <a:off x="7607808" y="3063240"/>
            <a:ext cx="566928" cy="566928"/>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56" name="Shape 54"/>
          <p:cNvSpPr/>
          <p:nvPr/>
        </p:nvSpPr>
        <p:spPr>
          <a:xfrm>
            <a:off x="8357616" y="3520440"/>
            <a:ext cx="274320" cy="274320"/>
          </a:xfrm>
          <a:prstGeom prst="ellipse">
            <a:avLst/>
          </a:prstGeom>
          <a:solidFill>
            <a:srgbClr val="0D1B2A"/>
          </a:solidFill>
          <a:ln w="12700">
            <a:solidFill>
              <a:srgbClr val="90E0EF"/>
            </a:solidFill>
            <a:prstDash val="solid"/>
          </a:ln>
        </p:spPr>
        <p:txBody>
          <a:bodyPr/>
          <a:lstStyle/>
          <a:p>
            <a:endParaRPr lang="en-IN"/>
          </a:p>
        </p:txBody>
      </p:sp>
      <p:sp>
        <p:nvSpPr>
          <p:cNvPr id="57" name="Text 55"/>
          <p:cNvSpPr/>
          <p:nvPr/>
        </p:nvSpPr>
        <p:spPr>
          <a:xfrm>
            <a:off x="8357616" y="3520440"/>
            <a:ext cx="274320" cy="274320"/>
          </a:xfrm>
          <a:prstGeom prst="rect">
            <a:avLst/>
          </a:prstGeom>
          <a:noFill/>
          <a:ln/>
        </p:spPr>
        <p:txBody>
          <a:bodyPr wrap="square" lIns="0" tIns="0" rIns="0" bIns="0" rtlCol="0" anchor="ctr"/>
          <a:lstStyle/>
          <a:p>
            <a:pPr marL="0" indent="0" algn="ctr">
              <a:buNone/>
            </a:pPr>
            <a:r>
              <a:rPr lang="en-US" sz="1000" b="1" dirty="0">
                <a:solidFill>
                  <a:srgbClr val="90E0EF"/>
                </a:solidFill>
              </a:rPr>
              <a:t>8</a:t>
            </a:r>
            <a:endParaRPr lang="en-US" sz="1000" dirty="0"/>
          </a:p>
        </p:txBody>
      </p:sp>
      <p:sp>
        <p:nvSpPr>
          <p:cNvPr id="58" name="Text 56"/>
          <p:cNvSpPr/>
          <p:nvPr/>
        </p:nvSpPr>
        <p:spPr>
          <a:xfrm>
            <a:off x="6986016" y="3758184"/>
            <a:ext cx="181051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Save to SQLite</a:t>
            </a:r>
            <a:endParaRPr lang="en-US" sz="1300" dirty="0"/>
          </a:p>
        </p:txBody>
      </p:sp>
      <p:sp>
        <p:nvSpPr>
          <p:cNvPr id="59" name="Text 57"/>
          <p:cNvSpPr/>
          <p:nvPr/>
        </p:nvSpPr>
        <p:spPr>
          <a:xfrm>
            <a:off x="6986016" y="4142232"/>
            <a:ext cx="1810512" cy="53035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Persist in database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Results</a:t>
            </a:r>
            <a:endParaRPr lang="en-US" sz="2200" dirty="0"/>
          </a:p>
        </p:txBody>
      </p:sp>
      <p:sp>
        <p:nvSpPr>
          <p:cNvPr id="4" name="Shape 2"/>
          <p:cNvSpPr/>
          <p:nvPr/>
        </p:nvSpPr>
        <p:spPr>
          <a:xfrm>
            <a:off x="0" y="0"/>
            <a:ext cx="164592" cy="658368"/>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457200" y="914400"/>
            <a:ext cx="4160520" cy="11887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57200" y="914400"/>
            <a:ext cx="73152" cy="1188720"/>
          </a:xfrm>
          <a:prstGeom prst="rect">
            <a:avLst/>
          </a:prstGeom>
          <a:solidFill>
            <a:srgbClr val="06D6A0"/>
          </a:solidFill>
          <a:ln w="12700">
            <a:solidFill>
              <a:srgbClr val="06D6A0"/>
            </a:solidFill>
            <a:prstDash val="solid"/>
          </a:ln>
        </p:spPr>
        <p:txBody>
          <a:bodyPr/>
          <a:lstStyle/>
          <a:p>
            <a:endParaRPr lang="en-IN"/>
          </a:p>
        </p:txBody>
      </p:sp>
      <p:sp>
        <p:nvSpPr>
          <p:cNvPr id="7" name="Text 5"/>
          <p:cNvSpPr/>
          <p:nvPr/>
        </p:nvSpPr>
        <p:spPr>
          <a:xfrm>
            <a:off x="640080" y="914400"/>
            <a:ext cx="731520" cy="11887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8" name="Text 6"/>
          <p:cNvSpPr/>
          <p:nvPr/>
        </p:nvSpPr>
        <p:spPr>
          <a:xfrm>
            <a:off x="1417320" y="914400"/>
            <a:ext cx="3017520" cy="1188720"/>
          </a:xfrm>
          <a:prstGeom prst="rect">
            <a:avLst/>
          </a:prstGeom>
          <a:noFill/>
          <a:ln/>
        </p:spPr>
        <p:txBody>
          <a:bodyPr wrap="square" lIns="0" tIns="0" rIns="0" bIns="0" rtlCol="0" anchor="ctr"/>
          <a:lstStyle/>
          <a:p>
            <a:pPr marL="0" indent="0">
              <a:buNone/>
            </a:pPr>
            <a:r>
              <a:rPr lang="en-US" sz="1600" b="1" dirty="0">
                <a:solidFill>
                  <a:srgbClr val="0D1B2A"/>
                </a:solidFill>
                <a:latin typeface="Trebuchet MS" pitchFamily="34" charset="0"/>
                <a:ea typeface="Trebuchet MS" pitchFamily="34" charset="-122"/>
                <a:cs typeface="Trebuchet MS" pitchFamily="34" charset="-120"/>
              </a:rPr>
              <a:t>Automated Asset Requests</a:t>
            </a:r>
            <a:endParaRPr lang="en-US" sz="1600" dirty="0"/>
          </a:p>
        </p:txBody>
      </p:sp>
      <p:sp>
        <p:nvSpPr>
          <p:cNvPr id="9" name="Shape 7"/>
          <p:cNvSpPr/>
          <p:nvPr/>
        </p:nvSpPr>
        <p:spPr>
          <a:xfrm>
            <a:off x="5029200" y="914400"/>
            <a:ext cx="4160520" cy="11887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5029200" y="914400"/>
            <a:ext cx="73152" cy="1188720"/>
          </a:xfrm>
          <a:prstGeom prst="rect">
            <a:avLst/>
          </a:prstGeom>
          <a:solidFill>
            <a:srgbClr val="06D6A0"/>
          </a:solidFill>
          <a:ln w="12700">
            <a:solidFill>
              <a:srgbClr val="06D6A0"/>
            </a:solidFill>
            <a:prstDash val="solid"/>
          </a:ln>
        </p:spPr>
        <p:txBody>
          <a:bodyPr/>
          <a:lstStyle/>
          <a:p>
            <a:endParaRPr lang="en-IN"/>
          </a:p>
        </p:txBody>
      </p:sp>
      <p:sp>
        <p:nvSpPr>
          <p:cNvPr id="11" name="Text 9"/>
          <p:cNvSpPr/>
          <p:nvPr/>
        </p:nvSpPr>
        <p:spPr>
          <a:xfrm>
            <a:off x="5212080" y="914400"/>
            <a:ext cx="731520" cy="11887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5989320" y="914400"/>
            <a:ext cx="3017520" cy="1188720"/>
          </a:xfrm>
          <a:prstGeom prst="rect">
            <a:avLst/>
          </a:prstGeom>
          <a:noFill/>
          <a:ln/>
        </p:spPr>
        <p:txBody>
          <a:bodyPr wrap="square" lIns="0" tIns="0" rIns="0" bIns="0" rtlCol="0" anchor="ctr"/>
          <a:lstStyle/>
          <a:p>
            <a:pPr marL="0" indent="0">
              <a:buNone/>
            </a:pPr>
            <a:r>
              <a:rPr lang="en-US" sz="1600" b="1" dirty="0">
                <a:solidFill>
                  <a:srgbClr val="0D1B2A"/>
                </a:solidFill>
                <a:latin typeface="Trebuchet MS" pitchFamily="34" charset="0"/>
                <a:ea typeface="Trebuchet MS" pitchFamily="34" charset="-122"/>
                <a:cs typeface="Trebuchet MS" pitchFamily="34" charset="-120"/>
              </a:rPr>
              <a:t>Employee Validation</a:t>
            </a:r>
            <a:endParaRPr lang="en-US" sz="1600" dirty="0"/>
          </a:p>
        </p:txBody>
      </p:sp>
      <p:sp>
        <p:nvSpPr>
          <p:cNvPr id="13" name="Shape 11"/>
          <p:cNvSpPr/>
          <p:nvPr/>
        </p:nvSpPr>
        <p:spPr>
          <a:xfrm>
            <a:off x="457200" y="2304288"/>
            <a:ext cx="4160520" cy="11887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457200" y="2304288"/>
            <a:ext cx="73152" cy="1188720"/>
          </a:xfrm>
          <a:prstGeom prst="rect">
            <a:avLst/>
          </a:prstGeom>
          <a:solidFill>
            <a:srgbClr val="06D6A0"/>
          </a:solidFill>
          <a:ln w="12700">
            <a:solidFill>
              <a:srgbClr val="06D6A0"/>
            </a:solidFill>
            <a:prstDash val="solid"/>
          </a:ln>
        </p:spPr>
        <p:txBody>
          <a:bodyPr/>
          <a:lstStyle/>
          <a:p>
            <a:endParaRPr lang="en-IN"/>
          </a:p>
        </p:txBody>
      </p:sp>
      <p:sp>
        <p:nvSpPr>
          <p:cNvPr id="15" name="Text 13"/>
          <p:cNvSpPr/>
          <p:nvPr/>
        </p:nvSpPr>
        <p:spPr>
          <a:xfrm>
            <a:off x="640080" y="2304288"/>
            <a:ext cx="731520" cy="11887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6" name="Text 14"/>
          <p:cNvSpPr/>
          <p:nvPr/>
        </p:nvSpPr>
        <p:spPr>
          <a:xfrm>
            <a:off x="1417320" y="2304288"/>
            <a:ext cx="3017520" cy="1188720"/>
          </a:xfrm>
          <a:prstGeom prst="rect">
            <a:avLst/>
          </a:prstGeom>
          <a:noFill/>
          <a:ln/>
        </p:spPr>
        <p:txBody>
          <a:bodyPr wrap="square" lIns="0" tIns="0" rIns="0" bIns="0" rtlCol="0" anchor="ctr"/>
          <a:lstStyle/>
          <a:p>
            <a:pPr marL="0" indent="0">
              <a:buNone/>
            </a:pPr>
            <a:r>
              <a:rPr lang="en-US" sz="1600" b="1" dirty="0">
                <a:solidFill>
                  <a:srgbClr val="0D1B2A"/>
                </a:solidFill>
                <a:latin typeface="Trebuchet MS" pitchFamily="34" charset="0"/>
                <a:ea typeface="Trebuchet MS" pitchFamily="34" charset="-122"/>
                <a:cs typeface="Trebuchet MS" pitchFamily="34" charset="-120"/>
              </a:rPr>
              <a:t>Structured Request Generation</a:t>
            </a:r>
            <a:endParaRPr lang="en-US" sz="1600" dirty="0"/>
          </a:p>
        </p:txBody>
      </p:sp>
      <p:sp>
        <p:nvSpPr>
          <p:cNvPr id="17" name="Shape 15"/>
          <p:cNvSpPr/>
          <p:nvPr/>
        </p:nvSpPr>
        <p:spPr>
          <a:xfrm>
            <a:off x="5029200" y="2304288"/>
            <a:ext cx="4160520" cy="11887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5029200" y="2304288"/>
            <a:ext cx="73152" cy="1188720"/>
          </a:xfrm>
          <a:prstGeom prst="rect">
            <a:avLst/>
          </a:prstGeom>
          <a:solidFill>
            <a:srgbClr val="06D6A0"/>
          </a:solidFill>
          <a:ln w="12700">
            <a:solidFill>
              <a:srgbClr val="06D6A0"/>
            </a:solidFill>
            <a:prstDash val="solid"/>
          </a:ln>
        </p:spPr>
        <p:txBody>
          <a:bodyPr/>
          <a:lstStyle/>
          <a:p>
            <a:endParaRPr lang="en-IN"/>
          </a:p>
        </p:txBody>
      </p:sp>
      <p:sp>
        <p:nvSpPr>
          <p:cNvPr id="19" name="Text 17"/>
          <p:cNvSpPr/>
          <p:nvPr/>
        </p:nvSpPr>
        <p:spPr>
          <a:xfrm>
            <a:off x="5212080" y="2304288"/>
            <a:ext cx="731520" cy="11887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0" name="Text 18"/>
          <p:cNvSpPr/>
          <p:nvPr/>
        </p:nvSpPr>
        <p:spPr>
          <a:xfrm>
            <a:off x="5989320" y="2304288"/>
            <a:ext cx="3017520" cy="1188720"/>
          </a:xfrm>
          <a:prstGeom prst="rect">
            <a:avLst/>
          </a:prstGeom>
          <a:noFill/>
          <a:ln/>
        </p:spPr>
        <p:txBody>
          <a:bodyPr wrap="square" lIns="0" tIns="0" rIns="0" bIns="0" rtlCol="0" anchor="ctr"/>
          <a:lstStyle/>
          <a:p>
            <a:pPr marL="0" indent="0">
              <a:buNone/>
            </a:pPr>
            <a:r>
              <a:rPr lang="en-US" sz="1600" b="1" dirty="0">
                <a:solidFill>
                  <a:srgbClr val="0D1B2A"/>
                </a:solidFill>
                <a:latin typeface="Trebuchet MS" pitchFamily="34" charset="0"/>
                <a:ea typeface="Trebuchet MS" pitchFamily="34" charset="-122"/>
                <a:cs typeface="Trebuchet MS" pitchFamily="34" charset="-120"/>
              </a:rPr>
              <a:t>Telegram Integration</a:t>
            </a:r>
            <a:endParaRPr lang="en-US" sz="1600" dirty="0"/>
          </a:p>
        </p:txBody>
      </p:sp>
      <p:sp>
        <p:nvSpPr>
          <p:cNvPr id="21" name="Shape 19"/>
          <p:cNvSpPr/>
          <p:nvPr/>
        </p:nvSpPr>
        <p:spPr>
          <a:xfrm>
            <a:off x="2286000" y="3694176"/>
            <a:ext cx="4114800" cy="1188720"/>
          </a:xfrm>
          <a:prstGeom prst="rect">
            <a:avLst/>
          </a:prstGeom>
          <a:solidFill>
            <a:srgbClr val="FFFFFF"/>
          </a:solidFill>
          <a:ln w="12700">
            <a:solidFill>
              <a:srgbClr val="E8EEF4"/>
            </a:solidFill>
            <a:prstDash val="solid"/>
          </a:ln>
          <a:effectLst>
            <a:outerShdw blurRad="101600" dist="38100" dir="8100000" algn="bl" rotWithShape="0">
              <a:srgbClr val="000000">
                <a:alpha val="12000"/>
              </a:srgbClr>
            </a:outerShdw>
          </a:effectLst>
        </p:spPr>
        <p:txBody>
          <a:bodyPr/>
          <a:lstStyle/>
          <a:p>
            <a:endParaRPr lang="en-IN"/>
          </a:p>
        </p:txBody>
      </p:sp>
      <p:sp>
        <p:nvSpPr>
          <p:cNvPr id="22" name="Shape 20"/>
          <p:cNvSpPr/>
          <p:nvPr/>
        </p:nvSpPr>
        <p:spPr>
          <a:xfrm>
            <a:off x="2286000" y="3694176"/>
            <a:ext cx="73152" cy="1188720"/>
          </a:xfrm>
          <a:prstGeom prst="rect">
            <a:avLst/>
          </a:prstGeom>
          <a:solidFill>
            <a:srgbClr val="06D6A0"/>
          </a:solidFill>
          <a:ln w="12700">
            <a:solidFill>
              <a:srgbClr val="06D6A0"/>
            </a:solidFill>
            <a:prstDash val="solid"/>
          </a:ln>
        </p:spPr>
        <p:txBody>
          <a:bodyPr/>
          <a:lstStyle/>
          <a:p>
            <a:endParaRPr lang="en-IN"/>
          </a:p>
        </p:txBody>
      </p:sp>
      <p:sp>
        <p:nvSpPr>
          <p:cNvPr id="23" name="Text 21"/>
          <p:cNvSpPr/>
          <p:nvPr/>
        </p:nvSpPr>
        <p:spPr>
          <a:xfrm>
            <a:off x="2468880" y="3694176"/>
            <a:ext cx="731520" cy="11887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4" name="Text 22"/>
          <p:cNvSpPr/>
          <p:nvPr/>
        </p:nvSpPr>
        <p:spPr>
          <a:xfrm>
            <a:off x="3246120" y="3694176"/>
            <a:ext cx="2926080" cy="1188720"/>
          </a:xfrm>
          <a:prstGeom prst="rect">
            <a:avLst/>
          </a:prstGeom>
          <a:noFill/>
          <a:ln/>
        </p:spPr>
        <p:txBody>
          <a:bodyPr wrap="square" lIns="0" tIns="0" rIns="0" bIns="0" rtlCol="0" anchor="ctr"/>
          <a:lstStyle/>
          <a:p>
            <a:pPr marL="0" indent="0">
              <a:buNone/>
            </a:pPr>
            <a:r>
              <a:rPr lang="en-US" sz="1700" b="1" dirty="0">
                <a:solidFill>
                  <a:srgbClr val="0D1B2A"/>
                </a:solidFill>
                <a:latin typeface="Trebuchet MS" pitchFamily="34" charset="0"/>
                <a:ea typeface="Trebuchet MS" pitchFamily="34" charset="-122"/>
                <a:cs typeface="Trebuchet MS" pitchFamily="34" charset="-120"/>
              </a:rPr>
              <a:t>SQLite Database Storage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Future Enhancements</a:t>
            </a:r>
            <a:endParaRPr lang="en-US" sz="2600" dirty="0"/>
          </a:p>
        </p:txBody>
      </p:sp>
      <p:sp>
        <p:nvSpPr>
          <p:cNvPr id="4" name="Shape 2"/>
          <p:cNvSpPr/>
          <p:nvPr/>
        </p:nvSpPr>
        <p:spPr>
          <a:xfrm>
            <a:off x="365760" y="868680"/>
            <a:ext cx="2724912" cy="1828800"/>
          </a:xfrm>
          <a:prstGeom prst="rect">
            <a:avLst/>
          </a:prstGeom>
          <a:solidFill>
            <a:srgbClr val="0F2942"/>
          </a:solidFill>
          <a:ln w="12700">
            <a:solidFill>
              <a:srgbClr val="00B4D8"/>
            </a:solidFill>
            <a:prstDash val="solid"/>
          </a:ln>
        </p:spPr>
        <p:txBody>
          <a:bodyPr/>
          <a:lstStyle/>
          <a:p>
            <a:endParaRPr lang="en-IN"/>
          </a:p>
        </p:txBody>
      </p:sp>
      <p:sp>
        <p:nvSpPr>
          <p:cNvPr id="5" name="Shape 3"/>
          <p:cNvSpPr/>
          <p:nvPr/>
        </p:nvSpPr>
        <p:spPr>
          <a:xfrm>
            <a:off x="1408176" y="996696"/>
            <a:ext cx="640080" cy="640080"/>
          </a:xfrm>
          <a:prstGeom prst="ellipse">
            <a:avLst/>
          </a:prstGeom>
          <a:solidFill>
            <a:srgbClr val="00B4D8"/>
          </a:solidFill>
          <a:ln w="12700">
            <a:solidFill>
              <a:srgbClr val="00B4D8"/>
            </a:solidFill>
            <a:prstDash val="solid"/>
          </a:ln>
        </p:spPr>
        <p:txBody>
          <a:bodyPr/>
          <a:lstStyle/>
          <a:p>
            <a:endParaRPr lang="en-IN"/>
          </a:p>
        </p:txBody>
      </p:sp>
      <p:sp>
        <p:nvSpPr>
          <p:cNvPr id="6" name="Text 4"/>
          <p:cNvSpPr/>
          <p:nvPr/>
        </p:nvSpPr>
        <p:spPr>
          <a:xfrm>
            <a:off x="1408176" y="996696"/>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475488" y="1746504"/>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Approval Workflow</a:t>
            </a:r>
            <a:endParaRPr lang="en-US" sz="1300" dirty="0"/>
          </a:p>
        </p:txBody>
      </p:sp>
      <p:sp>
        <p:nvSpPr>
          <p:cNvPr id="8" name="Text 6"/>
          <p:cNvSpPr/>
          <p:nvPr/>
        </p:nvSpPr>
        <p:spPr>
          <a:xfrm>
            <a:off x="475488" y="2130552"/>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Multi-level manager approval chains</a:t>
            </a:r>
            <a:endParaRPr lang="en-US" sz="1150" dirty="0"/>
          </a:p>
        </p:txBody>
      </p:sp>
      <p:sp>
        <p:nvSpPr>
          <p:cNvPr id="9" name="Shape 7"/>
          <p:cNvSpPr/>
          <p:nvPr/>
        </p:nvSpPr>
        <p:spPr>
          <a:xfrm>
            <a:off x="3273552" y="868680"/>
            <a:ext cx="2724912" cy="1828800"/>
          </a:xfrm>
          <a:prstGeom prst="rect">
            <a:avLst/>
          </a:prstGeom>
          <a:solidFill>
            <a:srgbClr val="0F2942"/>
          </a:solidFill>
          <a:ln w="12700">
            <a:solidFill>
              <a:srgbClr val="00B4D8"/>
            </a:solidFill>
            <a:prstDash val="solid"/>
          </a:ln>
        </p:spPr>
        <p:txBody>
          <a:bodyPr/>
          <a:lstStyle/>
          <a:p>
            <a:endParaRPr lang="en-IN"/>
          </a:p>
        </p:txBody>
      </p:sp>
      <p:sp>
        <p:nvSpPr>
          <p:cNvPr id="10" name="Shape 8"/>
          <p:cNvSpPr/>
          <p:nvPr/>
        </p:nvSpPr>
        <p:spPr>
          <a:xfrm>
            <a:off x="4315968" y="996696"/>
            <a:ext cx="640080" cy="640080"/>
          </a:xfrm>
          <a:prstGeom prst="ellipse">
            <a:avLst/>
          </a:prstGeom>
          <a:solidFill>
            <a:srgbClr val="00B4D8"/>
          </a:solidFill>
          <a:ln w="12700">
            <a:solidFill>
              <a:srgbClr val="00B4D8"/>
            </a:solidFill>
            <a:prstDash val="solid"/>
          </a:ln>
        </p:spPr>
        <p:txBody>
          <a:bodyPr/>
          <a:lstStyle/>
          <a:p>
            <a:endParaRPr lang="en-IN"/>
          </a:p>
        </p:txBody>
      </p:sp>
      <p:sp>
        <p:nvSpPr>
          <p:cNvPr id="11" name="Text 9"/>
          <p:cNvSpPr/>
          <p:nvPr/>
        </p:nvSpPr>
        <p:spPr>
          <a:xfrm>
            <a:off x="4315968" y="996696"/>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2" name="Text 10"/>
          <p:cNvSpPr/>
          <p:nvPr/>
        </p:nvSpPr>
        <p:spPr>
          <a:xfrm>
            <a:off x="3383280" y="1746504"/>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Admin Dashboard</a:t>
            </a:r>
            <a:endParaRPr lang="en-US" sz="1300" dirty="0"/>
          </a:p>
        </p:txBody>
      </p:sp>
      <p:sp>
        <p:nvSpPr>
          <p:cNvPr id="13" name="Text 11"/>
          <p:cNvSpPr/>
          <p:nvPr/>
        </p:nvSpPr>
        <p:spPr>
          <a:xfrm>
            <a:off x="3383280" y="2130552"/>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Web UI for IT admins to manage requests</a:t>
            </a:r>
            <a:endParaRPr lang="en-US" sz="1150" dirty="0"/>
          </a:p>
        </p:txBody>
      </p:sp>
      <p:sp>
        <p:nvSpPr>
          <p:cNvPr id="14" name="Shape 12"/>
          <p:cNvSpPr/>
          <p:nvPr/>
        </p:nvSpPr>
        <p:spPr>
          <a:xfrm>
            <a:off x="6181344" y="868680"/>
            <a:ext cx="2724912" cy="1828800"/>
          </a:xfrm>
          <a:prstGeom prst="rect">
            <a:avLst/>
          </a:prstGeom>
          <a:solidFill>
            <a:srgbClr val="0F2942"/>
          </a:solidFill>
          <a:ln w="12700">
            <a:solidFill>
              <a:srgbClr val="00B4D8"/>
            </a:solidFill>
            <a:prstDash val="solid"/>
          </a:ln>
        </p:spPr>
        <p:txBody>
          <a:bodyPr/>
          <a:lstStyle/>
          <a:p>
            <a:endParaRPr lang="en-IN"/>
          </a:p>
        </p:txBody>
      </p:sp>
      <p:sp>
        <p:nvSpPr>
          <p:cNvPr id="15" name="Shape 13"/>
          <p:cNvSpPr/>
          <p:nvPr/>
        </p:nvSpPr>
        <p:spPr>
          <a:xfrm>
            <a:off x="7223760" y="996696"/>
            <a:ext cx="640080" cy="640080"/>
          </a:xfrm>
          <a:prstGeom prst="ellipse">
            <a:avLst/>
          </a:prstGeom>
          <a:solidFill>
            <a:srgbClr val="00B4D8"/>
          </a:solidFill>
          <a:ln w="12700">
            <a:solidFill>
              <a:srgbClr val="00B4D8"/>
            </a:solidFill>
            <a:prstDash val="solid"/>
          </a:ln>
        </p:spPr>
        <p:txBody>
          <a:bodyPr/>
          <a:lstStyle/>
          <a:p>
            <a:endParaRPr lang="en-IN"/>
          </a:p>
        </p:txBody>
      </p:sp>
      <p:sp>
        <p:nvSpPr>
          <p:cNvPr id="16" name="Text 14"/>
          <p:cNvSpPr/>
          <p:nvPr/>
        </p:nvSpPr>
        <p:spPr>
          <a:xfrm>
            <a:off x="7223760" y="996696"/>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6291072" y="1746504"/>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Email Notifications</a:t>
            </a:r>
            <a:endParaRPr lang="en-US" sz="1300" dirty="0"/>
          </a:p>
        </p:txBody>
      </p:sp>
      <p:sp>
        <p:nvSpPr>
          <p:cNvPr id="18" name="Text 16"/>
          <p:cNvSpPr/>
          <p:nvPr/>
        </p:nvSpPr>
        <p:spPr>
          <a:xfrm>
            <a:off x="6291072" y="2130552"/>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Status updates sent via email</a:t>
            </a:r>
            <a:endParaRPr lang="en-US" sz="1150" dirty="0"/>
          </a:p>
        </p:txBody>
      </p:sp>
      <p:sp>
        <p:nvSpPr>
          <p:cNvPr id="19" name="Shape 17"/>
          <p:cNvSpPr/>
          <p:nvPr/>
        </p:nvSpPr>
        <p:spPr>
          <a:xfrm>
            <a:off x="365760" y="2898648"/>
            <a:ext cx="2724912" cy="1828800"/>
          </a:xfrm>
          <a:prstGeom prst="rect">
            <a:avLst/>
          </a:prstGeom>
          <a:solidFill>
            <a:srgbClr val="0F2942"/>
          </a:solidFill>
          <a:ln w="12700">
            <a:solidFill>
              <a:srgbClr val="00B4D8"/>
            </a:solidFill>
            <a:prstDash val="solid"/>
          </a:ln>
        </p:spPr>
        <p:txBody>
          <a:bodyPr/>
          <a:lstStyle/>
          <a:p>
            <a:endParaRPr lang="en-IN"/>
          </a:p>
        </p:txBody>
      </p:sp>
      <p:sp>
        <p:nvSpPr>
          <p:cNvPr id="20" name="Shape 18"/>
          <p:cNvSpPr/>
          <p:nvPr/>
        </p:nvSpPr>
        <p:spPr>
          <a:xfrm>
            <a:off x="1408176" y="3026664"/>
            <a:ext cx="640080" cy="640080"/>
          </a:xfrm>
          <a:prstGeom prst="ellipse">
            <a:avLst/>
          </a:prstGeom>
          <a:solidFill>
            <a:srgbClr val="00B4D8"/>
          </a:solidFill>
          <a:ln w="12700">
            <a:solidFill>
              <a:srgbClr val="00B4D8"/>
            </a:solidFill>
            <a:prstDash val="solid"/>
          </a:ln>
        </p:spPr>
        <p:txBody>
          <a:bodyPr/>
          <a:lstStyle/>
          <a:p>
            <a:endParaRPr lang="en-IN"/>
          </a:p>
        </p:txBody>
      </p:sp>
      <p:sp>
        <p:nvSpPr>
          <p:cNvPr id="21" name="Text 19"/>
          <p:cNvSpPr/>
          <p:nvPr/>
        </p:nvSpPr>
        <p:spPr>
          <a:xfrm>
            <a:off x="1408176" y="3026664"/>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475488" y="3776472"/>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PostgreSQL Integration</a:t>
            </a:r>
            <a:endParaRPr lang="en-US" sz="1300" dirty="0"/>
          </a:p>
        </p:txBody>
      </p:sp>
      <p:sp>
        <p:nvSpPr>
          <p:cNvPr id="23" name="Text 21"/>
          <p:cNvSpPr/>
          <p:nvPr/>
        </p:nvSpPr>
        <p:spPr>
          <a:xfrm>
            <a:off x="475488" y="4160520"/>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Scale to enterprise-grade database</a:t>
            </a:r>
            <a:endParaRPr lang="en-US" sz="1150" dirty="0"/>
          </a:p>
        </p:txBody>
      </p:sp>
      <p:sp>
        <p:nvSpPr>
          <p:cNvPr id="24" name="Shape 22"/>
          <p:cNvSpPr/>
          <p:nvPr/>
        </p:nvSpPr>
        <p:spPr>
          <a:xfrm>
            <a:off x="3273552" y="2898648"/>
            <a:ext cx="2724912" cy="1828800"/>
          </a:xfrm>
          <a:prstGeom prst="rect">
            <a:avLst/>
          </a:prstGeom>
          <a:solidFill>
            <a:srgbClr val="0F2942"/>
          </a:solidFill>
          <a:ln w="12700">
            <a:solidFill>
              <a:srgbClr val="00B4D8"/>
            </a:solidFill>
            <a:prstDash val="solid"/>
          </a:ln>
        </p:spPr>
        <p:txBody>
          <a:bodyPr/>
          <a:lstStyle/>
          <a:p>
            <a:endParaRPr lang="en-IN"/>
          </a:p>
        </p:txBody>
      </p:sp>
      <p:sp>
        <p:nvSpPr>
          <p:cNvPr id="25" name="Shape 23"/>
          <p:cNvSpPr/>
          <p:nvPr/>
        </p:nvSpPr>
        <p:spPr>
          <a:xfrm>
            <a:off x="4315968" y="3026664"/>
            <a:ext cx="640080" cy="640080"/>
          </a:xfrm>
          <a:prstGeom prst="ellipse">
            <a:avLst/>
          </a:prstGeom>
          <a:solidFill>
            <a:srgbClr val="00B4D8"/>
          </a:solidFill>
          <a:ln w="12700">
            <a:solidFill>
              <a:srgbClr val="00B4D8"/>
            </a:solidFill>
            <a:prstDash val="solid"/>
          </a:ln>
        </p:spPr>
        <p:txBody>
          <a:bodyPr/>
          <a:lstStyle/>
          <a:p>
            <a:endParaRPr lang="en-IN"/>
          </a:p>
        </p:txBody>
      </p:sp>
      <p:sp>
        <p:nvSpPr>
          <p:cNvPr id="26" name="Text 24"/>
          <p:cNvSpPr/>
          <p:nvPr/>
        </p:nvSpPr>
        <p:spPr>
          <a:xfrm>
            <a:off x="4315968" y="3026664"/>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7" name="Text 25"/>
          <p:cNvSpPr/>
          <p:nvPr/>
        </p:nvSpPr>
        <p:spPr>
          <a:xfrm>
            <a:off x="3383280" y="3776472"/>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Asset Inventory</a:t>
            </a:r>
            <a:endParaRPr lang="en-US" sz="1300" dirty="0"/>
          </a:p>
        </p:txBody>
      </p:sp>
      <p:sp>
        <p:nvSpPr>
          <p:cNvPr id="28" name="Text 26"/>
          <p:cNvSpPr/>
          <p:nvPr/>
        </p:nvSpPr>
        <p:spPr>
          <a:xfrm>
            <a:off x="3383280" y="4160520"/>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Track available and allocated assets</a:t>
            </a:r>
            <a:endParaRPr lang="en-US" sz="1150" dirty="0"/>
          </a:p>
        </p:txBody>
      </p:sp>
      <p:sp>
        <p:nvSpPr>
          <p:cNvPr id="29" name="Shape 27"/>
          <p:cNvSpPr/>
          <p:nvPr/>
        </p:nvSpPr>
        <p:spPr>
          <a:xfrm>
            <a:off x="6181344" y="2898648"/>
            <a:ext cx="2724912" cy="1828800"/>
          </a:xfrm>
          <a:prstGeom prst="rect">
            <a:avLst/>
          </a:prstGeom>
          <a:solidFill>
            <a:srgbClr val="0F2942"/>
          </a:solidFill>
          <a:ln w="12700">
            <a:solidFill>
              <a:srgbClr val="00B4D8"/>
            </a:solidFill>
            <a:prstDash val="solid"/>
          </a:ln>
        </p:spPr>
        <p:txBody>
          <a:bodyPr/>
          <a:lstStyle/>
          <a:p>
            <a:endParaRPr lang="en-IN"/>
          </a:p>
        </p:txBody>
      </p:sp>
      <p:sp>
        <p:nvSpPr>
          <p:cNvPr id="30" name="Shape 28"/>
          <p:cNvSpPr/>
          <p:nvPr/>
        </p:nvSpPr>
        <p:spPr>
          <a:xfrm>
            <a:off x="7223760" y="3026664"/>
            <a:ext cx="640080" cy="640080"/>
          </a:xfrm>
          <a:prstGeom prst="ellipse">
            <a:avLst/>
          </a:prstGeom>
          <a:solidFill>
            <a:srgbClr val="00B4D8"/>
          </a:solidFill>
          <a:ln w="12700">
            <a:solidFill>
              <a:srgbClr val="00B4D8"/>
            </a:solidFill>
            <a:prstDash val="solid"/>
          </a:ln>
        </p:spPr>
        <p:txBody>
          <a:bodyPr/>
          <a:lstStyle/>
          <a:p>
            <a:endParaRPr lang="en-IN"/>
          </a:p>
        </p:txBody>
      </p:sp>
      <p:sp>
        <p:nvSpPr>
          <p:cNvPr id="31" name="Text 29"/>
          <p:cNvSpPr/>
          <p:nvPr/>
        </p:nvSpPr>
        <p:spPr>
          <a:xfrm>
            <a:off x="7223760" y="3026664"/>
            <a:ext cx="640080" cy="64008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6291072" y="3776472"/>
            <a:ext cx="2505456" cy="347472"/>
          </a:xfrm>
          <a:prstGeom prst="rect">
            <a:avLst/>
          </a:prstGeom>
          <a:noFill/>
          <a:ln/>
        </p:spPr>
        <p:txBody>
          <a:bodyPr wrap="square" lIns="0" tIns="0" rIns="0" bIns="0" rtlCol="0" anchor="ctr"/>
          <a:lstStyle/>
          <a:p>
            <a:pPr marL="0" indent="0" algn="ctr">
              <a:buNone/>
            </a:pPr>
            <a:r>
              <a:rPr lang="en-US" sz="1300" b="1" dirty="0">
                <a:solidFill>
                  <a:srgbClr val="90E0EF"/>
                </a:solidFill>
                <a:latin typeface="Trebuchet MS" pitchFamily="34" charset="0"/>
                <a:ea typeface="Trebuchet MS" pitchFamily="34" charset="-122"/>
                <a:cs typeface="Trebuchet MS" pitchFamily="34" charset="-120"/>
              </a:rPr>
              <a:t>AI Recommendations</a:t>
            </a:r>
            <a:endParaRPr lang="en-US" sz="1300" dirty="0"/>
          </a:p>
        </p:txBody>
      </p:sp>
      <p:sp>
        <p:nvSpPr>
          <p:cNvPr id="33" name="Text 31"/>
          <p:cNvSpPr/>
          <p:nvPr/>
        </p:nvSpPr>
        <p:spPr>
          <a:xfrm>
            <a:off x="6291072" y="4160520"/>
            <a:ext cx="2505456" cy="45720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Smart asset suggestions based on role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0077B6">
              <a:alpha val="25000"/>
            </a:srgbClr>
          </a:solidFill>
          <a:ln w="12700">
            <a:solidFill>
              <a:srgbClr val="00B4D8">
                <a:alpha val="40000"/>
              </a:srgbClr>
            </a:solidFill>
            <a:prstDash val="solid"/>
          </a:ln>
        </p:spPr>
        <p:txBody>
          <a:bodyPr/>
          <a:lstStyle/>
          <a:p>
            <a:endParaRPr lang="en-IN"/>
          </a:p>
        </p:txBody>
      </p:sp>
      <p:sp>
        <p:nvSpPr>
          <p:cNvPr id="3" name="Shape 1"/>
          <p:cNvSpPr/>
          <p:nvPr/>
        </p:nvSpPr>
        <p:spPr>
          <a:xfrm>
            <a:off x="7498080" y="-914400"/>
            <a:ext cx="3200400" cy="3200400"/>
          </a:xfrm>
          <a:prstGeom prst="ellipse">
            <a:avLst/>
          </a:prstGeom>
          <a:solidFill>
            <a:srgbClr val="00B4D8">
              <a:alpha val="25000"/>
            </a:srgbClr>
          </a:solidFill>
          <a:ln w="12700">
            <a:solidFill>
              <a:srgbClr val="48CAE4">
                <a:alpha val="45000"/>
              </a:srgbClr>
            </a:solidFill>
            <a:prstDash val="solid"/>
          </a:ln>
        </p:spPr>
        <p:txBody>
          <a:bodyPr/>
          <a:lstStyle/>
          <a:p>
            <a:endParaRPr lang="en-IN"/>
          </a:p>
        </p:txBody>
      </p:sp>
      <p:sp>
        <p:nvSpPr>
          <p:cNvPr id="4" name="Shape 2"/>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IN"/>
          </a:p>
        </p:txBody>
      </p:sp>
      <p:sp>
        <p:nvSpPr>
          <p:cNvPr id="5" name="Text 3"/>
          <p:cNvSpPr/>
          <p:nvPr/>
        </p:nvSpPr>
        <p:spPr>
          <a:xfrm>
            <a:off x="365760" y="274320"/>
            <a:ext cx="8229600" cy="59436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Conclusion</a:t>
            </a:r>
            <a:endParaRPr lang="en-US" sz="3400" dirty="0"/>
          </a:p>
        </p:txBody>
      </p:sp>
      <p:sp>
        <p:nvSpPr>
          <p:cNvPr id="6" name="Shape 4"/>
          <p:cNvSpPr/>
          <p:nvPr/>
        </p:nvSpPr>
        <p:spPr>
          <a:xfrm>
            <a:off x="365760" y="914400"/>
            <a:ext cx="5486400" cy="36576"/>
          </a:xfrm>
          <a:prstGeom prst="rect">
            <a:avLst/>
          </a:prstGeom>
          <a:solidFill>
            <a:srgbClr val="00B4D8"/>
          </a:solidFill>
          <a:ln w="12700">
            <a:solidFill>
              <a:srgbClr val="00B4D8"/>
            </a:solidFill>
            <a:prstDash val="solid"/>
          </a:ln>
        </p:spPr>
        <p:txBody>
          <a:bodyPr/>
          <a:lstStyle/>
          <a:p>
            <a:endParaRPr lang="en-IN"/>
          </a:p>
        </p:txBody>
      </p:sp>
      <p:sp>
        <p:nvSpPr>
          <p:cNvPr id="7" name="Text 5"/>
          <p:cNvSpPr/>
          <p:nvPr/>
        </p:nvSpPr>
        <p:spPr>
          <a:xfrm>
            <a:off x="365760" y="1097280"/>
            <a:ext cx="7863840" cy="1463040"/>
          </a:xfrm>
          <a:prstGeom prst="rect">
            <a:avLst/>
          </a:prstGeom>
          <a:noFill/>
          <a:ln/>
        </p:spPr>
        <p:txBody>
          <a:bodyPr wrap="square" lIns="0" tIns="0" rIns="0" bIns="0" rtlCol="0" anchor="t"/>
          <a:lstStyle/>
          <a:p>
            <a:pPr marL="0" indent="0">
              <a:buNone/>
            </a:pPr>
            <a:r>
              <a:rPr lang="en-US" sz="1600" dirty="0">
                <a:solidFill>
                  <a:srgbClr val="90E0EF"/>
                </a:solidFill>
                <a:latin typeface="Calibri" pitchFamily="34" charset="0"/>
                <a:ea typeface="Calibri" pitchFamily="34" charset="-122"/>
                <a:cs typeface="Calibri" pitchFamily="34" charset="-120"/>
              </a:rPr>
              <a:t>The Asset Request Bot successfully automates the asset request process by collecting employee requirements, validating employee information against HRIS, generating structured requests with unique IDs, and storing them persistently in SQLite.</a:t>
            </a:r>
            <a:endParaRPr lang="en-US" sz="1600" dirty="0"/>
          </a:p>
        </p:txBody>
      </p:sp>
      <p:sp>
        <p:nvSpPr>
          <p:cNvPr id="8" name="Shape 6"/>
          <p:cNvSpPr/>
          <p:nvPr/>
        </p:nvSpPr>
        <p:spPr>
          <a:xfrm>
            <a:off x="365760" y="2743200"/>
            <a:ext cx="1965960" cy="502920"/>
          </a:xfrm>
          <a:prstGeom prst="roundRect">
            <a:avLst>
              <a:gd name="adj" fmla="val 21818"/>
            </a:avLst>
          </a:prstGeom>
          <a:solidFill>
            <a:srgbClr val="0077B6">
              <a:alpha val="70000"/>
            </a:srgbClr>
          </a:solidFill>
          <a:ln w="12700">
            <a:solidFill>
              <a:srgbClr val="00B4D8"/>
            </a:solidFill>
            <a:prstDash val="solid"/>
          </a:ln>
        </p:spPr>
        <p:txBody>
          <a:bodyPr/>
          <a:lstStyle/>
          <a:p>
            <a:endParaRPr lang="en-IN"/>
          </a:p>
        </p:txBody>
      </p:sp>
      <p:sp>
        <p:nvSpPr>
          <p:cNvPr id="9" name="Text 7"/>
          <p:cNvSpPr/>
          <p:nvPr/>
        </p:nvSpPr>
        <p:spPr>
          <a:xfrm>
            <a:off x="365760" y="2743200"/>
            <a:ext cx="196596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Telegram Bot</a:t>
            </a:r>
            <a:endParaRPr lang="en-US" sz="1200" dirty="0"/>
          </a:p>
        </p:txBody>
      </p:sp>
      <p:sp>
        <p:nvSpPr>
          <p:cNvPr id="10" name="Shape 8"/>
          <p:cNvSpPr/>
          <p:nvPr/>
        </p:nvSpPr>
        <p:spPr>
          <a:xfrm>
            <a:off x="2514600" y="2743200"/>
            <a:ext cx="1965960" cy="502920"/>
          </a:xfrm>
          <a:prstGeom prst="roundRect">
            <a:avLst>
              <a:gd name="adj" fmla="val 21818"/>
            </a:avLst>
          </a:prstGeom>
          <a:solidFill>
            <a:srgbClr val="0077B6">
              <a:alpha val="70000"/>
            </a:srgbClr>
          </a:solidFill>
          <a:ln w="12700">
            <a:solidFill>
              <a:srgbClr val="00B4D8"/>
            </a:solidFill>
            <a:prstDash val="solid"/>
          </a:ln>
        </p:spPr>
        <p:txBody>
          <a:bodyPr/>
          <a:lstStyle/>
          <a:p>
            <a:endParaRPr lang="en-IN"/>
          </a:p>
        </p:txBody>
      </p:sp>
      <p:sp>
        <p:nvSpPr>
          <p:cNvPr id="11" name="Text 9"/>
          <p:cNvSpPr/>
          <p:nvPr/>
        </p:nvSpPr>
        <p:spPr>
          <a:xfrm>
            <a:off x="2514600" y="2743200"/>
            <a:ext cx="196596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HRIS Validation</a:t>
            </a:r>
            <a:endParaRPr lang="en-US" sz="1200" dirty="0"/>
          </a:p>
        </p:txBody>
      </p:sp>
      <p:sp>
        <p:nvSpPr>
          <p:cNvPr id="12" name="Shape 10"/>
          <p:cNvSpPr/>
          <p:nvPr/>
        </p:nvSpPr>
        <p:spPr>
          <a:xfrm>
            <a:off x="4663440" y="2743200"/>
            <a:ext cx="1965960" cy="502920"/>
          </a:xfrm>
          <a:prstGeom prst="roundRect">
            <a:avLst>
              <a:gd name="adj" fmla="val 21818"/>
            </a:avLst>
          </a:prstGeom>
          <a:solidFill>
            <a:srgbClr val="0077B6">
              <a:alpha val="70000"/>
            </a:srgbClr>
          </a:solidFill>
          <a:ln w="12700">
            <a:solidFill>
              <a:srgbClr val="00B4D8"/>
            </a:solidFill>
            <a:prstDash val="solid"/>
          </a:ln>
        </p:spPr>
        <p:txBody>
          <a:bodyPr/>
          <a:lstStyle/>
          <a:p>
            <a:endParaRPr lang="en-IN"/>
          </a:p>
        </p:txBody>
      </p:sp>
      <p:sp>
        <p:nvSpPr>
          <p:cNvPr id="13" name="Text 11"/>
          <p:cNvSpPr/>
          <p:nvPr/>
        </p:nvSpPr>
        <p:spPr>
          <a:xfrm>
            <a:off x="4663440" y="2743200"/>
            <a:ext cx="196596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Auto Generation</a:t>
            </a:r>
            <a:endParaRPr lang="en-US" sz="1200" dirty="0"/>
          </a:p>
        </p:txBody>
      </p:sp>
      <p:sp>
        <p:nvSpPr>
          <p:cNvPr id="14" name="Shape 12"/>
          <p:cNvSpPr/>
          <p:nvPr/>
        </p:nvSpPr>
        <p:spPr>
          <a:xfrm>
            <a:off x="6812280" y="2743200"/>
            <a:ext cx="1965960" cy="502920"/>
          </a:xfrm>
          <a:prstGeom prst="roundRect">
            <a:avLst>
              <a:gd name="adj" fmla="val 21818"/>
            </a:avLst>
          </a:prstGeom>
          <a:solidFill>
            <a:srgbClr val="0077B6">
              <a:alpha val="70000"/>
            </a:srgbClr>
          </a:solidFill>
          <a:ln w="12700">
            <a:solidFill>
              <a:srgbClr val="00B4D8"/>
            </a:solidFill>
            <a:prstDash val="solid"/>
          </a:ln>
        </p:spPr>
        <p:txBody>
          <a:bodyPr/>
          <a:lstStyle/>
          <a:p>
            <a:endParaRPr lang="en-IN"/>
          </a:p>
        </p:txBody>
      </p:sp>
      <p:sp>
        <p:nvSpPr>
          <p:cNvPr id="15" name="Text 13"/>
          <p:cNvSpPr/>
          <p:nvPr/>
        </p:nvSpPr>
        <p:spPr>
          <a:xfrm>
            <a:off x="6812280" y="2743200"/>
            <a:ext cx="196596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SQLite Storage</a:t>
            </a:r>
            <a:endParaRPr lang="en-US" sz="1200" dirty="0"/>
          </a:p>
        </p:txBody>
      </p:sp>
      <p:sp>
        <p:nvSpPr>
          <p:cNvPr id="16" name="Text 14"/>
          <p:cNvSpPr/>
          <p:nvPr/>
        </p:nvSpPr>
        <p:spPr>
          <a:xfrm>
            <a:off x="365760" y="3474720"/>
            <a:ext cx="8229600" cy="822960"/>
          </a:xfrm>
          <a:prstGeom prst="rect">
            <a:avLst/>
          </a:prstGeom>
          <a:noFill/>
          <a:ln/>
        </p:spPr>
        <p:txBody>
          <a:bodyPr wrap="square" lIns="0" tIns="0" rIns="0" bIns="0" rtlCol="0" anchor="ctr"/>
          <a:lstStyle/>
          <a:p>
            <a:pPr marL="0" indent="0" algn="ctr">
              <a:buNone/>
            </a:pPr>
            <a:r>
              <a:rPr lang="en-US" sz="3800" b="1" dirty="0">
                <a:solidFill>
                  <a:srgbClr val="00B4D8"/>
                </a:solidFill>
                <a:latin typeface="Trebuchet MS" pitchFamily="34" charset="0"/>
                <a:ea typeface="Trebuchet MS" pitchFamily="34" charset="-122"/>
                <a:cs typeface="Trebuchet MS" pitchFamily="34" charset="-120"/>
              </a:rPr>
              <a:t>Thank You!</a:t>
            </a:r>
            <a:endParaRPr lang="en-US" sz="3800" dirty="0"/>
          </a:p>
        </p:txBody>
      </p:sp>
      <p:sp>
        <p:nvSpPr>
          <p:cNvPr id="17" name="Text 15"/>
          <p:cNvSpPr/>
          <p:nvPr/>
        </p:nvSpPr>
        <p:spPr>
          <a:xfrm>
            <a:off x="365760" y="4480560"/>
            <a:ext cx="8229600" cy="365760"/>
          </a:xfrm>
          <a:prstGeom prst="rect">
            <a:avLst/>
          </a:prstGeom>
          <a:noFill/>
          <a:ln/>
        </p:spPr>
        <p:txBody>
          <a:bodyPr wrap="square" lIns="0" tIns="0" rIns="0" bIns="0" rtlCol="0" anchor="ctr"/>
          <a:lstStyle/>
          <a:p>
            <a:pPr marL="0" indent="0" algn="ctr">
              <a:buNone/>
            </a:pPr>
            <a:r>
              <a:rPr lang="en-US" sz="1200" dirty="0">
                <a:solidFill>
                  <a:srgbClr val="475569"/>
                </a:solidFill>
                <a:latin typeface="Calibri" pitchFamily="34" charset="0"/>
                <a:ea typeface="Calibri" pitchFamily="34" charset="-122"/>
                <a:cs typeface="Calibri" pitchFamily="34" charset="-120"/>
              </a:rPr>
              <a:t>Asset Request Bot  ·  IT Automation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821</Words>
  <Application>Microsoft Office PowerPoint</Application>
  <PresentationFormat>On-screen Show (16:9)</PresentationFormat>
  <Paragraphs>285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Asset Request Bot</dc:title>
  <dc:subject>PptxGenJS Presentation</dc:subject>
  <dc:creator>PptxGenJS</dc:creator>
  <cp:lastModifiedBy>Imthiyaas S</cp:lastModifiedBy>
  <cp:revision>1</cp:revision>
  <dcterms:created xsi:type="dcterms:W3CDTF">2026-06-07T09:11:53Z</dcterms:created>
  <dcterms:modified xsi:type="dcterms:W3CDTF">2026-06-07T16:55:29Z</dcterms:modified>
</cp:coreProperties>
</file>